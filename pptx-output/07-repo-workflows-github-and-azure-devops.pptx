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connects local Copilot use to real team workflows. The emphasis is on discipline, not automation for its own sake.</a:t>
            </a:r>
          </a:p>
          <a:p>
            <a:r>
              <a:t>Open by framing this as the final transfer step: the same keep, revise, or reject discipline from module 06 now has to hold up when changes are visible to teammates in GitHub or Azure DevOps.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repository-backed work raises the review bar.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local draft can be messy. A repo change affects everyone who reads the history.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training platform-agnostic where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patterns reduce the chance of broad, hard-to-review diffs.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diff format. The `-` lines are removals, `+` lines are additions. The AI expanded the Gross Margin definition (likely an improvement) and added a new metric (Gross Margin %) that may not be approved. Ask: who owns the authority to add new KPIs? This is a real governance question that a code review alone cannot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upgraded Python 3.10 to 3.12 and added useful prerequisite details. But the version bump may break CI or team environments still on 3.10. Ask: did anyone request the Python upgrade? The data and seed additions are clearly helpful. The right call may be Revise -- keep the new lines but revert the Python version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replaced a vague "retry manually" step with a structured troubleshooting sequence. This is a clear improvement. But ask: is 3 retries correct? Is paging the on-call DE the right escalation, or should it go to the team lead first? Operational runbooks must match the actual incident process. The diff looks great, but the DE must verify every step against reality.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text is not the deliverable. The diff is the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learners to reject confidently when the scope or meaning is off.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matters because many teams overfocus on platform differences and miss the shared review habits.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is enough for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 a reason for any keep decision.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examples from each audience group.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teams to turn the repo-safe prompt patterns into standard practice and store those rules where both GitHub and Azure DevOps teams can find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8534095" y="-1371600"/>
            <a:ext cx="5486400" cy="5486400"/>
          </a:xfrm>
          <a:prstGeom prst="ellipse">
            <a:avLst/>
          </a:prstGeom>
          <a:solidFill>
            <a:srgbClr val="224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5029200"/>
            <a:ext cx="1371600" cy="13716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9144000" cy="1371600"/>
          </a:xfrm>
          <a:prstGeom prst="rect">
            <a:avLst/>
          </a:prstGeom>
          <a:noFill/>
        </p:spPr>
        <p:txBody>
          <a:bodyPr wrap="square">
            <a:spAutoFit/>
          </a:bodyPr>
          <a:lstStyle/>
          <a:p>
            <a:pPr algn="l"/>
            <a:r>
              <a:rPr sz="3600" b="1">
                <a:solidFill>
                  <a:srgbClr val="FFFFFF"/>
                </a:solidFill>
                <a:latin typeface="Segoe UI"/>
              </a:rPr>
              <a:t>Repo Workflows In GitHub And Azure DevOps</a:t>
            </a:r>
          </a:p>
        </p:txBody>
      </p:sp>
      <p:sp>
        <p:nvSpPr>
          <p:cNvPr id="5" name="TextBox 4"/>
          <p:cNvSpPr txBox="1"/>
          <p:nvPr/>
        </p:nvSpPr>
        <p:spPr>
          <a:xfrm>
            <a:off x="914400" y="3474720"/>
            <a:ext cx="7315200" cy="731520"/>
          </a:xfrm>
          <a:prstGeom prst="rect">
            <a:avLst/>
          </a:prstGeom>
          <a:noFill/>
        </p:spPr>
        <p:txBody>
          <a:bodyPr wrap="square">
            <a:spAutoFit/>
          </a:bodyPr>
          <a:lstStyle/>
          <a:p>
            <a:pPr algn="l"/>
            <a:r>
              <a:rPr sz="1800" b="0">
                <a:solidFill>
                  <a:srgbClr val="BDC3C7"/>
                </a:solidFill>
                <a:latin typeface="Segoe UI"/>
              </a:rPr>
              <a:t>15 slides  |  BI, Data Science, Data Engineering</a:t>
            </a:r>
          </a:p>
        </p:txBody>
      </p:sp>
      <p:sp>
        <p:nvSpPr>
          <p:cNvPr id="6" name="Rectangle 5"/>
          <p:cNvSpPr/>
          <p:nvPr/>
        </p:nvSpPr>
        <p:spPr>
          <a:xfrm>
            <a:off x="914400" y="4572000"/>
            <a:ext cx="274320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754880"/>
            <a:ext cx="5486400" cy="365760"/>
          </a:xfrm>
          <a:prstGeom prst="rect">
            <a:avLst/>
          </a:prstGeom>
          <a:noFill/>
        </p:spPr>
        <p:txBody>
          <a:bodyPr wrap="square">
            <a:spAutoFit/>
          </a:bodyPr>
          <a:lstStyle/>
          <a:p>
            <a:pPr algn="l"/>
            <a:r>
              <a:rPr sz="1200" b="0">
                <a:solidFill>
                  <a:srgbClr val="95A5A6"/>
                </a:solidFill>
                <a:latin typeface="Segoe UI"/>
              </a:rPr>
              <a:t>AI Coding Agent Training  |  GitHub Copilot in VS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Title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Repo Workflows In GitHub And Azure DevOps</a:t>
            </a:r>
          </a:p>
          <a:p>
            <a:pPr>
              <a:spcBef>
                <a:spcPts val="400"/>
              </a:spcBef>
              <a:spcAft>
                <a:spcPts val="800"/>
              </a:spcAft>
            </a:pPr>
            <a:r>
              <a:rPr sz="1600">
                <a:solidFill>
                  <a:srgbClr val="0078D4"/>
                </a:solidFill>
                <a:latin typeface="Segoe UI"/>
              </a:rPr>
              <a:t>●  </a:t>
            </a:r>
            <a:r>
              <a:rPr sz="1800">
                <a:solidFill>
                  <a:srgbClr val="2C3E50"/>
                </a:solidFill>
                <a:latin typeface="Segoe UI"/>
              </a:rPr>
              <a:t>Safe repository-backed Copilot use</a:t>
            </a:r>
          </a:p>
        </p:txBody>
      </p:sp>
      <p:sp>
        <p:nvSpPr>
          <p:cNvPr id="8" name="Rounded Rectangle 7"/>
          <p:cNvSpPr/>
          <p:nvPr/>
        </p:nvSpPr>
        <p:spPr>
          <a:xfrm>
            <a:off x="8046720" y="1463040"/>
            <a:ext cx="3840480" cy="192024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1463040"/>
          </a:xfrm>
          <a:prstGeom prst="rect">
            <a:avLst/>
          </a:prstGeom>
          <a:noFill/>
        </p:spPr>
        <p:txBody>
          <a:bodyPr wrap="square">
            <a:spAutoFit/>
          </a:bodyPr>
          <a:lstStyle/>
          <a:p>
            <a:pPr>
              <a:spcAft>
                <a:spcPts val="400"/>
              </a:spcAft>
            </a:pPr>
            <a:r>
              <a:rPr sz="1100" i="1">
                <a:solidFill>
                  <a:srgbClr val="5D6D7E"/>
                </a:solidFill>
                <a:latin typeface="Segoe UI"/>
              </a:rPr>
              <a:t>This module connects local Copilot use to real team workflows. The emphasis is on discipline, not automation for its own sake.</a:t>
            </a:r>
          </a:p>
          <a:p>
            <a:pPr>
              <a:spcAft>
                <a:spcPts val="400"/>
              </a:spcAft>
            </a:pPr>
            <a:r>
              <a:rPr sz="1100" i="1">
                <a:solidFill>
                  <a:srgbClr val="5D6D7E"/>
                </a:solidFill>
                <a:latin typeface="Segoe UI"/>
              </a:rPr>
              <a:t>Open by framing this as the final transfer step: the same keep, revise, or reject discipline from module 06 now has to hold up when changes are visible to teammates in GitHub or Azure DevOps.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Learning Objectives</a:t>
            </a:r>
          </a:p>
        </p:txBody>
      </p:sp>
      <p:sp>
        <p:nvSpPr>
          <p:cNvPr id="5" name="Pentagon 4"/>
          <p:cNvSpPr/>
          <p:nvPr/>
        </p:nvSpPr>
        <p:spPr>
          <a:xfrm>
            <a:off x="10972800" y="274320"/>
            <a:ext cx="548640" cy="548640"/>
          </a:xfrm>
          <a:prstGeom prst="homePlat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work safely in repo-backed workspaces</a:t>
            </a:r>
          </a:p>
          <a:p>
            <a:pPr>
              <a:spcBef>
                <a:spcPts val="400"/>
              </a:spcBef>
              <a:spcAft>
                <a:spcPts val="800"/>
              </a:spcAft>
            </a:pPr>
            <a:r>
              <a:rPr sz="1600">
                <a:solidFill>
                  <a:srgbClr val="0078D4"/>
                </a:solidFill>
                <a:latin typeface="Segoe UI"/>
              </a:rPr>
              <a:t>●  </a:t>
            </a:r>
            <a:r>
              <a:rPr sz="1800">
                <a:solidFill>
                  <a:srgbClr val="2C3E50"/>
                </a:solidFill>
                <a:latin typeface="Segoe UI"/>
              </a:rPr>
              <a:t>constrain Copilot changes to reviewable scope</a:t>
            </a:r>
          </a:p>
          <a:p>
            <a:pPr>
              <a:spcBef>
                <a:spcPts val="400"/>
              </a:spcBef>
              <a:spcAft>
                <a:spcPts val="800"/>
              </a:spcAft>
            </a:pPr>
            <a:r>
              <a:rPr sz="1600">
                <a:solidFill>
                  <a:srgbClr val="0078D4"/>
                </a:solidFill>
                <a:latin typeface="Segoe UI"/>
              </a:rPr>
              <a:t>●  </a:t>
            </a:r>
            <a:r>
              <a:rPr sz="1800">
                <a:solidFill>
                  <a:srgbClr val="2C3E50"/>
                </a:solidFill>
                <a:latin typeface="Segoe UI"/>
              </a:rPr>
              <a:t>review diffs before commit or PR</a:t>
            </a:r>
          </a:p>
          <a:p>
            <a:pPr>
              <a:spcBef>
                <a:spcPts val="400"/>
              </a:spcBef>
              <a:spcAft>
                <a:spcPts val="800"/>
              </a:spcAft>
            </a:pPr>
            <a:r>
              <a:rPr sz="1600">
                <a:solidFill>
                  <a:srgbClr val="0078D4"/>
                </a:solidFill>
                <a:latin typeface="Segoe UI"/>
              </a:rPr>
              <a:t>●  </a:t>
            </a:r>
            <a:r>
              <a:rPr sz="1800">
                <a:solidFill>
                  <a:srgbClr val="2C3E50"/>
                </a:solidFill>
                <a:latin typeface="Segoe UI"/>
              </a:rPr>
              <a:t>apply the same habits in GitHub and Azure DevOps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Explain that repository-backed work raises the review bar.</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Why Repo Context Changes The Risk</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shared history</a:t>
            </a:r>
          </a:p>
          <a:p>
            <a:pPr>
              <a:spcBef>
                <a:spcPts val="400"/>
              </a:spcBef>
              <a:spcAft>
                <a:spcPts val="800"/>
              </a:spcAft>
            </a:pPr>
            <a:r>
              <a:rPr sz="1600">
                <a:solidFill>
                  <a:srgbClr val="0078D4"/>
                </a:solidFill>
                <a:latin typeface="Segoe UI"/>
              </a:rPr>
              <a:t>●  </a:t>
            </a:r>
            <a:r>
              <a:rPr sz="1800">
                <a:solidFill>
                  <a:srgbClr val="2C3E50"/>
                </a:solidFill>
                <a:latin typeface="Segoe UI"/>
              </a:rPr>
              <a:t>review by teammates</a:t>
            </a:r>
          </a:p>
          <a:p>
            <a:pPr>
              <a:spcBef>
                <a:spcPts val="400"/>
              </a:spcBef>
              <a:spcAft>
                <a:spcPts val="800"/>
              </a:spcAft>
            </a:pPr>
            <a:r>
              <a:rPr sz="1600">
                <a:solidFill>
                  <a:srgbClr val="0078D4"/>
                </a:solidFill>
                <a:latin typeface="Segoe UI"/>
              </a:rPr>
              <a:t>●  </a:t>
            </a:r>
            <a:r>
              <a:rPr sz="1800">
                <a:solidFill>
                  <a:srgbClr val="2C3E50"/>
                </a:solidFill>
                <a:latin typeface="Segoe UI"/>
              </a:rPr>
              <a:t>branch and PR expectations</a:t>
            </a:r>
          </a:p>
          <a:p>
            <a:pPr>
              <a:spcBef>
                <a:spcPts val="400"/>
              </a:spcBef>
              <a:spcAft>
                <a:spcPts val="800"/>
              </a:spcAft>
            </a:pPr>
            <a:r>
              <a:rPr sz="1600">
                <a:solidFill>
                  <a:srgbClr val="0078D4"/>
                </a:solidFill>
                <a:latin typeface="Segoe UI"/>
              </a:rPr>
              <a:t>●  </a:t>
            </a:r>
            <a:r>
              <a:rPr sz="1800">
                <a:solidFill>
                  <a:srgbClr val="2C3E50"/>
                </a:solidFill>
                <a:latin typeface="Segoe UI"/>
              </a:rPr>
              <a:t>less room for vague edits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A local draft can be messy. A repo change affects everyone who reads the history.</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Shared Safe Habits Across Platforms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small changes</a:t>
            </a:r>
          </a:p>
          <a:p>
            <a:pPr>
              <a:spcBef>
                <a:spcPts val="400"/>
              </a:spcBef>
              <a:spcAft>
                <a:spcPts val="800"/>
              </a:spcAft>
            </a:pPr>
            <a:r>
              <a:rPr sz="1600">
                <a:solidFill>
                  <a:srgbClr val="0078D4"/>
                </a:solidFill>
                <a:latin typeface="Segoe UI"/>
              </a:rPr>
              <a:t>●  </a:t>
            </a:r>
            <a:r>
              <a:rPr sz="1800">
                <a:solidFill>
                  <a:srgbClr val="2C3E50"/>
                </a:solidFill>
                <a:latin typeface="Segoe UI"/>
              </a:rPr>
              <a:t>explicit scope</a:t>
            </a:r>
          </a:p>
          <a:p>
            <a:pPr>
              <a:spcBef>
                <a:spcPts val="400"/>
              </a:spcBef>
              <a:spcAft>
                <a:spcPts val="800"/>
              </a:spcAft>
            </a:pPr>
            <a:r>
              <a:rPr sz="1600">
                <a:solidFill>
                  <a:srgbClr val="0078D4"/>
                </a:solidFill>
                <a:latin typeface="Segoe UI"/>
              </a:rPr>
              <a:t>●  </a:t>
            </a:r>
            <a:r>
              <a:rPr sz="1800">
                <a:solidFill>
                  <a:srgbClr val="2C3E50"/>
                </a:solidFill>
                <a:latin typeface="Segoe UI"/>
              </a:rPr>
              <a:t>diff review</a:t>
            </a:r>
          </a:p>
          <a:p>
            <a:pPr>
              <a:spcBef>
                <a:spcPts val="400"/>
              </a:spcBef>
              <a:spcAft>
                <a:spcPts val="800"/>
              </a:spcAft>
            </a:pPr>
            <a:r>
              <a:rPr sz="1600">
                <a:solidFill>
                  <a:srgbClr val="0078D4"/>
                </a:solidFill>
                <a:latin typeface="Segoe UI"/>
              </a:rPr>
              <a:t>●  </a:t>
            </a:r>
            <a:r>
              <a:rPr sz="1800">
                <a:solidFill>
                  <a:srgbClr val="2C3E50"/>
                </a:solidFill>
                <a:latin typeface="Segoe UI"/>
              </a:rPr>
              <a:t>validation before commit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Keep the training platform-agnostic where possible.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Good Repo-Safe Prompt Patterns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update one section only</a:t>
            </a:r>
          </a:p>
          <a:p>
            <a:pPr>
              <a:spcBef>
                <a:spcPts val="400"/>
              </a:spcBef>
              <a:spcAft>
                <a:spcPts val="800"/>
              </a:spcAft>
            </a:pPr>
            <a:r>
              <a:rPr sz="1600">
                <a:solidFill>
                  <a:srgbClr val="0078D4"/>
                </a:solidFill>
                <a:latin typeface="Segoe UI"/>
              </a:rPr>
              <a:t>●  </a:t>
            </a:r>
            <a:r>
              <a:rPr sz="1800">
                <a:solidFill>
                  <a:srgbClr val="2C3E50"/>
                </a:solidFill>
                <a:latin typeface="Segoe UI"/>
              </a:rPr>
              <a:t>preserve headings and tone</a:t>
            </a:r>
          </a:p>
          <a:p>
            <a:pPr>
              <a:spcBef>
                <a:spcPts val="400"/>
              </a:spcBef>
              <a:spcAft>
                <a:spcPts val="800"/>
              </a:spcAft>
            </a:pPr>
            <a:r>
              <a:rPr sz="1600">
                <a:solidFill>
                  <a:srgbClr val="0078D4"/>
                </a:solidFill>
                <a:latin typeface="Segoe UI"/>
              </a:rPr>
              <a:t>●  </a:t>
            </a:r>
            <a:r>
              <a:rPr sz="1800">
                <a:solidFill>
                  <a:srgbClr val="2C3E50"/>
                </a:solidFill>
                <a:latin typeface="Segoe UI"/>
              </a:rPr>
              <a:t>do not modify other files</a:t>
            </a:r>
          </a:p>
          <a:p>
            <a:pPr>
              <a:spcBef>
                <a:spcPts val="400"/>
              </a:spcBef>
              <a:spcAft>
                <a:spcPts val="800"/>
              </a:spcAft>
            </a:pPr>
            <a:r>
              <a:rPr sz="1600">
                <a:solidFill>
                  <a:srgbClr val="0078D4"/>
                </a:solidFill>
                <a:latin typeface="Segoe UI"/>
              </a:rPr>
              <a:t>●  </a:t>
            </a:r>
            <a:r>
              <a:rPr sz="1800">
                <a:solidFill>
                  <a:srgbClr val="2C3E50"/>
                </a:solidFill>
                <a:latin typeface="Segoe UI"/>
              </a:rPr>
              <a:t>ask clarifying questions if scope is unclear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These patterns reduce the chance of broad, hard-to-review diffs.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BI Example -- Repo Diff Review</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6</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Scenario: Copilot updated a KPI glossary in a shared repo. Review the diff before merge.</a:t>
            </a:r>
          </a:p>
          <a:p>
            <a:pPr>
              <a:spcBef>
                <a:spcPts val="400"/>
              </a:spcBef>
              <a:spcAft>
                <a:spcPts val="800"/>
              </a:spcAft>
            </a:pPr>
            <a:r>
              <a:rPr sz="1600">
                <a:solidFill>
                  <a:srgbClr val="2ECC71"/>
                </a:solidFill>
                <a:latin typeface="Segoe UI"/>
              </a:rPr>
              <a:t>●  </a:t>
            </a:r>
            <a:r>
              <a:rPr sz="1800">
                <a:solidFill>
                  <a:srgbClr val="2C3E50"/>
                </a:solidFill>
                <a:latin typeface="Segoe UI"/>
              </a:rPr>
              <a:t>**Gross Margin**: Revenue minus cost.</a:t>
            </a:r>
          </a:p>
          <a:p>
            <a:pPr>
              <a:spcBef>
                <a:spcPts val="400"/>
              </a:spcBef>
              <a:spcAft>
                <a:spcPts val="800"/>
              </a:spcAft>
            </a:pPr>
            <a:r>
              <a:rPr sz="1600">
                <a:solidFill>
                  <a:srgbClr val="2ECC71"/>
                </a:solidFill>
                <a:latin typeface="Segoe UI"/>
              </a:rPr>
              <a:t>●  </a:t>
            </a:r>
            <a:r>
              <a:rPr sz="1800">
                <a:solidFill>
                  <a:srgbClr val="2C3E50"/>
                </a:solidFill>
                <a:latin typeface="Segoe UI"/>
              </a:rPr>
              <a:t>Review: Did the AI **change** the Gross Margin definition or **clarify** it?</a:t>
            </a:r>
          </a:p>
          <a:p>
            <a:pPr>
              <a:spcBef>
                <a:spcPts val="400"/>
              </a:spcBef>
              <a:spcAft>
                <a:spcPts val="800"/>
              </a:spcAft>
            </a:pPr>
            <a:r>
              <a:rPr sz="1600">
                <a:solidFill>
                  <a:srgbClr val="2ECC71"/>
                </a:solidFill>
                <a:latin typeface="Segoe UI"/>
              </a:rPr>
              <a:t>●  </a:t>
            </a:r>
            <a:r>
              <a:rPr sz="1800">
                <a:solidFill>
                  <a:srgbClr val="2C3E50"/>
                </a:solidFill>
                <a:latin typeface="Segoe UI"/>
              </a:rPr>
              <a:t>Is the new Gross Margin % metric approved by Finance?</a:t>
            </a:r>
          </a:p>
          <a:p>
            <a:pPr>
              <a:spcBef>
                <a:spcPts val="400"/>
              </a:spcBef>
              <a:spcAft>
                <a:spcPts val="800"/>
              </a:spcAft>
            </a:pPr>
            <a:r>
              <a:rPr sz="1600">
                <a:solidFill>
                  <a:srgbClr val="2ECC71"/>
                </a:solidFill>
                <a:latin typeface="Segoe UI"/>
              </a:rPr>
              <a:t>●  </a:t>
            </a:r>
            <a:r>
              <a:rPr sz="1800">
                <a:solidFill>
                  <a:srgbClr val="2C3E50"/>
                </a:solidFill>
                <a:latin typeface="Segoe UI"/>
              </a:rPr>
              <a:t>Decision: Keep, Revise, or Reject the PR?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Walk through the diff format. The `-` lines are removals, `+` lines are additions. The AI expanded the Gross Margin definition (likely an improvement) and added a new metric (Gross Margin %) that may not be approved. Ask: who owns the authority to add new KPIs? This is a real governance question that a code review alone cannot answer.</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DS Example -- Repo Diff Review</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7</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Scenario: Copilot updated a notebook prerequisites section. Review before merge.</a:t>
            </a:r>
          </a:p>
          <a:p>
            <a:pPr>
              <a:spcBef>
                <a:spcPts val="400"/>
              </a:spcBef>
              <a:spcAft>
                <a:spcPts val="800"/>
              </a:spcAft>
            </a:pPr>
            <a:r>
              <a:rPr sz="1600">
                <a:solidFill>
                  <a:srgbClr val="2ECC71"/>
                </a:solidFill>
                <a:latin typeface="Segoe UI"/>
              </a:rPr>
              <a:t>●  </a:t>
            </a:r>
            <a:r>
              <a:rPr sz="1800">
                <a:solidFill>
                  <a:srgbClr val="2C3E50"/>
                </a:solidFill>
                <a:latin typeface="Segoe UI"/>
              </a:rPr>
              <a:t>Python 3.10+</a:t>
            </a:r>
          </a:p>
          <a:p>
            <a:pPr>
              <a:spcBef>
                <a:spcPts val="400"/>
              </a:spcBef>
              <a:spcAft>
                <a:spcPts val="800"/>
              </a:spcAft>
            </a:pPr>
            <a:r>
              <a:rPr sz="1600">
                <a:solidFill>
                  <a:srgbClr val="2ECC71"/>
                </a:solidFill>
                <a:latin typeface="Segoe UI"/>
              </a:rPr>
              <a:t>●  </a:t>
            </a:r>
            <a:r>
              <a:rPr sz="1800">
                <a:solidFill>
                  <a:srgbClr val="2C3E50"/>
                </a:solidFill>
                <a:latin typeface="Segoe UI"/>
              </a:rPr>
              <a:t>Review: Is the Python version bump from 3.10 to 3.12 intentional or a side effect?</a:t>
            </a:r>
          </a:p>
          <a:p>
            <a:pPr>
              <a:spcBef>
                <a:spcPts val="400"/>
              </a:spcBef>
              <a:spcAft>
                <a:spcPts val="800"/>
              </a:spcAft>
            </a:pPr>
            <a:r>
              <a:rPr sz="1600">
                <a:solidFill>
                  <a:srgbClr val="2ECC71"/>
                </a:solidFill>
                <a:latin typeface="Segoe UI"/>
              </a:rPr>
              <a:t>●  </a:t>
            </a:r>
            <a:r>
              <a:rPr sz="1800">
                <a:solidFill>
                  <a:srgbClr val="2C3E50"/>
                </a:solidFill>
                <a:latin typeface="Segoe UI"/>
              </a:rPr>
              <a:t>Are the pinned package versions correct for this experiment?</a:t>
            </a:r>
          </a:p>
          <a:p>
            <a:pPr>
              <a:spcBef>
                <a:spcPts val="400"/>
              </a:spcBef>
              <a:spcAft>
                <a:spcPts val="800"/>
              </a:spcAft>
            </a:pPr>
            <a:r>
              <a:rPr sz="1600">
                <a:solidFill>
                  <a:srgbClr val="2ECC71"/>
                </a:solidFill>
                <a:latin typeface="Segoe UI"/>
              </a:rPr>
              <a:t>●  </a:t>
            </a:r>
            <a:r>
              <a:rPr sz="1800">
                <a:solidFill>
                  <a:srgbClr val="2C3E50"/>
                </a:solidFill>
                <a:latin typeface="Segoe UI"/>
              </a:rPr>
              <a:t>Decision: Keep, Revise, or Reject the PR?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AI upgraded Python 3.10 to 3.12 and added useful prerequisite details. But the version bump may break CI or team environments still on 3.10. Ask: did anyone request the Python upgrade? The data and seed additions are clearly helpful. The right call may be Revise -- keep the new lines but revert the Python version change.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DE Example -- Repo Diff Review</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8</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Scenario: Copilot updated a pipeline runbook in the repo. Review before merge.</a:t>
            </a:r>
          </a:p>
          <a:p>
            <a:pPr>
              <a:spcBef>
                <a:spcPts val="400"/>
              </a:spcBef>
              <a:spcAft>
                <a:spcPts val="800"/>
              </a:spcAft>
            </a:pPr>
            <a:r>
              <a:rPr sz="1600">
                <a:solidFill>
                  <a:srgbClr val="2ECC71"/>
                </a:solidFill>
                <a:latin typeface="Segoe UI"/>
              </a:rPr>
              <a:t>●  </a:t>
            </a:r>
            <a:r>
              <a:rPr sz="1800">
                <a:solidFill>
                  <a:srgbClr val="2C3E50"/>
                </a:solidFill>
                <a:latin typeface="Segoe UI"/>
              </a:rPr>
              <a:t>2. Retry the task manually if it failed.</a:t>
            </a:r>
          </a:p>
          <a:p>
            <a:pPr>
              <a:spcBef>
                <a:spcPts val="400"/>
              </a:spcBef>
              <a:spcAft>
                <a:spcPts val="800"/>
              </a:spcAft>
            </a:pPr>
            <a:r>
              <a:rPr sz="1600">
                <a:solidFill>
                  <a:srgbClr val="2ECC71"/>
                </a:solidFill>
                <a:latin typeface="Segoe UI"/>
              </a:rPr>
              <a:t>●  </a:t>
            </a:r>
            <a:r>
              <a:rPr sz="1800">
                <a:solidFill>
                  <a:srgbClr val="2C3E50"/>
                </a:solidFill>
                <a:latin typeface="Segoe UI"/>
              </a:rPr>
              <a:t>Restore from the previous partition snapshot.</a:t>
            </a:r>
          </a:p>
          <a:p>
            <a:pPr>
              <a:spcBef>
                <a:spcPts val="400"/>
              </a:spcBef>
              <a:spcAft>
                <a:spcPts val="800"/>
              </a:spcAft>
            </a:pPr>
            <a:r>
              <a:rPr sz="1600">
                <a:solidFill>
                  <a:srgbClr val="2ECC71"/>
                </a:solidFill>
                <a:latin typeface="Segoe UI"/>
              </a:rPr>
              <a:t>●  </a:t>
            </a:r>
            <a:r>
              <a:rPr sz="1800">
                <a:solidFill>
                  <a:srgbClr val="2C3E50"/>
                </a:solidFill>
                <a:latin typeface="Segoe UI"/>
              </a:rPr>
              <a:t>Review: Is the **escalation path** (page on-call DE) correct for your team?</a:t>
            </a:r>
          </a:p>
          <a:p>
            <a:pPr>
              <a:spcBef>
                <a:spcPts val="400"/>
              </a:spcBef>
              <a:spcAft>
                <a:spcPts val="800"/>
              </a:spcAft>
            </a:pPr>
            <a:r>
              <a:rPr sz="1600">
                <a:solidFill>
                  <a:srgbClr val="2ECC71"/>
                </a:solidFill>
                <a:latin typeface="Segoe UI"/>
              </a:rPr>
              <a:t>●  </a:t>
            </a:r>
            <a:r>
              <a:rPr sz="1800">
                <a:solidFill>
                  <a:srgbClr val="2C3E50"/>
                </a:solidFill>
                <a:latin typeface="Segoe UI"/>
              </a:rPr>
              <a:t>Should step 5 be a warning or a hard gate?</a:t>
            </a:r>
          </a:p>
          <a:p>
            <a:pPr>
              <a:spcBef>
                <a:spcPts val="400"/>
              </a:spcBef>
              <a:spcAft>
                <a:spcPts val="800"/>
              </a:spcAft>
            </a:pPr>
            <a:r>
              <a:rPr sz="1600">
                <a:solidFill>
                  <a:srgbClr val="2ECC71"/>
                </a:solidFill>
                <a:latin typeface="Segoe UI"/>
              </a:rPr>
              <a:t>●  </a:t>
            </a:r>
            <a:r>
              <a:rPr sz="1800">
                <a:solidFill>
                  <a:srgbClr val="2C3E50"/>
                </a:solidFill>
                <a:latin typeface="Segoe UI"/>
              </a:rPr>
              <a:t>Decision: Keep, Revise, or Reject the PR?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AI replaced a vague "retry manually" step with a structured troubleshooting sequence. This is a clear improvement. But ask: is 3 retries correct? Is paging the on-call DE the right escalation, or should it go to the team lead first? Operational runbooks must match the actual incident process. The diff looks great, but the DE must verify every step against reality.</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Review The Diff, Not Just The Response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9</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inspect exact changes</a:t>
            </a:r>
          </a:p>
          <a:p>
            <a:pPr>
              <a:spcBef>
                <a:spcPts val="400"/>
              </a:spcBef>
              <a:spcAft>
                <a:spcPts val="800"/>
              </a:spcAft>
            </a:pPr>
            <a:r>
              <a:rPr sz="1600">
                <a:solidFill>
                  <a:srgbClr val="0078D4"/>
                </a:solidFill>
                <a:latin typeface="Segoe UI"/>
              </a:rPr>
              <a:t>●  </a:t>
            </a:r>
            <a:r>
              <a:rPr sz="1800">
                <a:solidFill>
                  <a:srgbClr val="2C3E50"/>
                </a:solidFill>
                <a:latin typeface="Segoe UI"/>
              </a:rPr>
              <a:t>compare to request</a:t>
            </a:r>
          </a:p>
          <a:p>
            <a:pPr>
              <a:spcBef>
                <a:spcPts val="400"/>
              </a:spcBef>
              <a:spcAft>
                <a:spcPts val="800"/>
              </a:spcAft>
            </a:pPr>
            <a:r>
              <a:rPr sz="1600">
                <a:solidFill>
                  <a:srgbClr val="0078D4"/>
                </a:solidFill>
                <a:latin typeface="Segoe UI"/>
              </a:rPr>
              <a:t>●  </a:t>
            </a:r>
            <a:r>
              <a:rPr sz="1800">
                <a:solidFill>
                  <a:srgbClr val="2C3E50"/>
                </a:solidFill>
                <a:latin typeface="Segoe UI"/>
              </a:rPr>
              <a:t>check reviewability</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response text is not the deliverable. The diff is the deliverable.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Keep, Revise, Or Reject In Repo Work</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10</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ready for commit</a:t>
            </a:r>
          </a:p>
          <a:p>
            <a:pPr>
              <a:spcBef>
                <a:spcPts val="400"/>
              </a:spcBef>
              <a:spcAft>
                <a:spcPts val="800"/>
              </a:spcAft>
            </a:pPr>
            <a:r>
              <a:rPr sz="1600">
                <a:solidFill>
                  <a:srgbClr val="0078D4"/>
                </a:solidFill>
                <a:latin typeface="Segoe UI"/>
              </a:rPr>
              <a:t>●  </a:t>
            </a:r>
            <a:r>
              <a:rPr sz="1800">
                <a:solidFill>
                  <a:srgbClr val="2C3E50"/>
                </a:solidFill>
                <a:latin typeface="Segoe UI"/>
              </a:rPr>
              <a:t>needs another pass</a:t>
            </a:r>
          </a:p>
          <a:p>
            <a:pPr>
              <a:spcBef>
                <a:spcPts val="400"/>
              </a:spcBef>
              <a:spcAft>
                <a:spcPts val="800"/>
              </a:spcAft>
            </a:pPr>
            <a:r>
              <a:rPr sz="1600">
                <a:solidFill>
                  <a:srgbClr val="0078D4"/>
                </a:solidFill>
                <a:latin typeface="Segoe UI"/>
              </a:rPr>
              <a:t>●  </a:t>
            </a:r>
            <a:r>
              <a:rPr sz="1800">
                <a:solidFill>
                  <a:srgbClr val="2C3E50"/>
                </a:solidFill>
                <a:latin typeface="Segoe UI"/>
              </a:rPr>
              <a:t>not safe to merge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Encourage learners to reject confidently when the scope or meaning is off.</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Platform-Agnostic Message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GitHub and Azure DevOps differ in tooling details</a:t>
            </a:r>
          </a:p>
          <a:p>
            <a:pPr>
              <a:spcBef>
                <a:spcPts val="400"/>
              </a:spcBef>
              <a:spcAft>
                <a:spcPts val="800"/>
              </a:spcAft>
            </a:pPr>
            <a:r>
              <a:rPr sz="1600">
                <a:solidFill>
                  <a:srgbClr val="0078D4"/>
                </a:solidFill>
                <a:latin typeface="Segoe UI"/>
              </a:rPr>
              <a:t>●  </a:t>
            </a:r>
            <a:r>
              <a:rPr sz="1800">
                <a:solidFill>
                  <a:srgbClr val="2C3E50"/>
                </a:solidFill>
                <a:latin typeface="Segoe UI"/>
              </a:rPr>
              <a:t>safe habits are largely the same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This matters because many teams overfocus on platform differences and miss the shared review habits.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Oval 1"/>
          <p:cNvSpPr/>
          <p:nvPr/>
        </p:nvSpPr>
        <p:spPr>
          <a:xfrm>
            <a:off x="-1828800" y="-1828800"/>
            <a:ext cx="4572000" cy="45720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3657600"/>
            <a:ext cx="3657600" cy="36576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0"/>
            <a:ext cx="8229600" cy="1371600"/>
          </a:xfrm>
          <a:prstGeom prst="rect">
            <a:avLst/>
          </a:prstGeom>
          <a:noFill/>
        </p:spPr>
        <p:txBody>
          <a:bodyPr wrap="square">
            <a:spAutoFit/>
          </a:bodyPr>
          <a:lstStyle/>
          <a:p>
            <a:pPr algn="ctr"/>
            <a:r>
              <a:rPr sz="3600" b="1">
                <a:solidFill>
                  <a:srgbClr val="FFFFFF"/>
                </a:solidFill>
                <a:latin typeface="Segoe UI"/>
              </a:rPr>
              <a:t>Hands-On Lab</a:t>
            </a:r>
          </a:p>
        </p:txBody>
      </p:sp>
      <p:sp>
        <p:nvSpPr>
          <p:cNvPr id="5" name="TextBox 4"/>
          <p:cNvSpPr txBox="1"/>
          <p:nvPr/>
        </p:nvSpPr>
        <p:spPr>
          <a:xfrm>
            <a:off x="1828800" y="3840480"/>
            <a:ext cx="8229600" cy="731520"/>
          </a:xfrm>
          <a:prstGeom prst="rect">
            <a:avLst/>
          </a:prstGeom>
          <a:noFill/>
        </p:spPr>
        <p:txBody>
          <a:bodyPr wrap="square">
            <a:spAutoFit/>
          </a:bodyPr>
          <a:lstStyle/>
          <a:p>
            <a:pPr algn="ctr"/>
            <a:r>
              <a:rPr sz="1800" b="0">
                <a:solidFill>
                  <a:srgbClr val="D6EAF8"/>
                </a:solidFill>
                <a:latin typeface="Segoe UI"/>
              </a:rPr>
              <a:t>Time to practice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Repo Change Exercise</a:t>
            </a:r>
          </a:p>
        </p:txBody>
      </p:sp>
      <p:sp>
        <p:nvSpPr>
          <p:cNvPr id="5" name="Process 4"/>
          <p:cNvSpPr/>
          <p:nvPr/>
        </p:nvSpPr>
        <p:spPr>
          <a:xfrm>
            <a:off x="10972800" y="274320"/>
            <a:ext cx="548640" cy="548640"/>
          </a:xfrm>
          <a:prstGeom prst="flowChartProcess">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make one small repo-backed change</a:t>
            </a:r>
          </a:p>
          <a:p>
            <a:pPr>
              <a:spcBef>
                <a:spcPts val="400"/>
              </a:spcBef>
              <a:spcAft>
                <a:spcPts val="800"/>
              </a:spcAft>
            </a:pPr>
            <a:r>
              <a:rPr sz="1600">
                <a:solidFill>
                  <a:srgbClr val="2ECC71"/>
                </a:solidFill>
                <a:latin typeface="Segoe UI"/>
              </a:rPr>
              <a:t>●  </a:t>
            </a:r>
            <a:r>
              <a:rPr sz="1800">
                <a:solidFill>
                  <a:srgbClr val="2C3E50"/>
                </a:solidFill>
                <a:latin typeface="Segoe UI"/>
              </a:rPr>
              <a:t>review the diff</a:t>
            </a:r>
          </a:p>
          <a:p>
            <a:pPr>
              <a:spcBef>
                <a:spcPts val="400"/>
              </a:spcBef>
              <a:spcAft>
                <a:spcPts val="800"/>
              </a:spcAft>
            </a:pPr>
            <a:r>
              <a:rPr sz="1600">
                <a:solidFill>
                  <a:srgbClr val="2ECC71"/>
                </a:solidFill>
                <a:latin typeface="Segoe UI"/>
              </a:rPr>
              <a:t>●  </a:t>
            </a:r>
            <a:r>
              <a:rPr sz="1800">
                <a:solidFill>
                  <a:srgbClr val="2C3E50"/>
                </a:solidFill>
                <a:latin typeface="Segoe UI"/>
              </a:rPr>
              <a:t>decide keep, revise, or reject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One file is enough for the exercise.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Merge-Readiness Check</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learner can constrain repo scope</a:t>
            </a:r>
          </a:p>
          <a:p>
            <a:pPr>
              <a:spcBef>
                <a:spcPts val="400"/>
              </a:spcBef>
              <a:spcAft>
                <a:spcPts val="800"/>
              </a:spcAft>
            </a:pPr>
            <a:r>
              <a:rPr sz="1600">
                <a:solidFill>
                  <a:srgbClr val="0078D4"/>
                </a:solidFill>
                <a:latin typeface="Segoe UI"/>
              </a:rPr>
              <a:t>●  </a:t>
            </a:r>
            <a:r>
              <a:rPr sz="1800">
                <a:solidFill>
                  <a:srgbClr val="2C3E50"/>
                </a:solidFill>
                <a:latin typeface="Segoe UI"/>
              </a:rPr>
              <a:t>learner can review diff quality</a:t>
            </a:r>
          </a:p>
          <a:p>
            <a:pPr>
              <a:spcBef>
                <a:spcPts val="400"/>
              </a:spcBef>
              <a:spcAft>
                <a:spcPts val="800"/>
              </a:spcAft>
            </a:pPr>
            <a:r>
              <a:rPr sz="1600">
                <a:solidFill>
                  <a:srgbClr val="0078D4"/>
                </a:solidFill>
                <a:latin typeface="Segoe UI"/>
              </a:rPr>
              <a:t>●  </a:t>
            </a:r>
            <a:r>
              <a:rPr sz="1800">
                <a:solidFill>
                  <a:srgbClr val="2C3E50"/>
                </a:solidFill>
                <a:latin typeface="Segoe UI"/>
              </a:rPr>
              <a:t>learner can justify readiness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Require a reason for any keep decision.</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Team Workflow Debrief</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what makes a change commit-ready?</a:t>
            </a:r>
          </a:p>
          <a:p>
            <a:pPr>
              <a:spcBef>
                <a:spcPts val="400"/>
              </a:spcBef>
              <a:spcAft>
                <a:spcPts val="800"/>
              </a:spcAft>
            </a:pPr>
            <a:r>
              <a:rPr sz="1600">
                <a:solidFill>
                  <a:srgbClr val="0078D4"/>
                </a:solidFill>
                <a:latin typeface="Segoe UI"/>
              </a:rPr>
              <a:t>●  </a:t>
            </a:r>
            <a:r>
              <a:rPr sz="1800">
                <a:solidFill>
                  <a:srgbClr val="2C3E50"/>
                </a:solidFill>
                <a:latin typeface="Segoe UI"/>
              </a:rPr>
              <a:t>what should never skip review?</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Pull examples from each audience group.</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References</a:t>
            </a:r>
          </a:p>
        </p:txBody>
      </p:sp>
      <p:sp>
        <p:nvSpPr>
          <p:cNvPr id="5" name="Folded Corner 4"/>
          <p:cNvSpPr/>
          <p:nvPr/>
        </p:nvSpPr>
        <p:spPr>
          <a:xfrm>
            <a:off x="10972800" y="274320"/>
            <a:ext cx="548640" cy="548640"/>
          </a:xfrm>
          <a:prstGeom prst="foldedCorner">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5D6D7E"/>
                </a:solidFill>
                <a:latin typeface="Segoe UI"/>
              </a:rPr>
              <a:t>●  </a:t>
            </a:r>
            <a:r>
              <a:rPr sz="1800">
                <a:solidFill>
                  <a:srgbClr val="2C3E50"/>
                </a:solidFill>
                <a:latin typeface="Segoe UI"/>
              </a:rPr>
              <a:t>VS Code chat overview</a:t>
            </a:r>
          </a:p>
          <a:p>
            <a:pPr>
              <a:spcBef>
                <a:spcPts val="400"/>
              </a:spcBef>
              <a:spcAft>
                <a:spcPts val="800"/>
              </a:spcAft>
            </a:pPr>
            <a:r>
              <a:rPr sz="1600">
                <a:solidFill>
                  <a:srgbClr val="5D6D7E"/>
                </a:solidFill>
                <a:latin typeface="Segoe UI"/>
              </a:rPr>
              <a:t>●  </a:t>
            </a:r>
            <a:r>
              <a:rPr sz="1800">
                <a:solidFill>
                  <a:srgbClr val="2C3E50"/>
                </a:solidFill>
                <a:latin typeface="Segoe UI"/>
              </a:rPr>
              <a:t>VS Code AI best practices</a:t>
            </a:r>
          </a:p>
          <a:p>
            <a:pPr>
              <a:spcBef>
                <a:spcPts val="400"/>
              </a:spcBef>
              <a:spcAft>
                <a:spcPts val="800"/>
              </a:spcAft>
            </a:pPr>
            <a:r>
              <a:rPr sz="1600">
                <a:solidFill>
                  <a:srgbClr val="5D6D7E"/>
                </a:solidFill>
                <a:latin typeface="Segoe UI"/>
              </a:rPr>
              <a:t>●  </a:t>
            </a:r>
            <a:r>
              <a:rPr sz="1800">
                <a:solidFill>
                  <a:srgbClr val="2C3E50"/>
                </a:solidFill>
                <a:latin typeface="Segoe UI"/>
              </a:rPr>
              <a:t>GitHub Copilot best practices</a:t>
            </a:r>
          </a:p>
          <a:p>
            <a:pPr>
              <a:spcBef>
                <a:spcPts val="400"/>
              </a:spcBef>
              <a:spcAft>
                <a:spcPts val="800"/>
              </a:spcAft>
            </a:pPr>
            <a:r>
              <a:rPr sz="1600">
                <a:solidFill>
                  <a:srgbClr val="5D6D7E"/>
                </a:solidFill>
                <a:latin typeface="Segoe UI"/>
              </a:rPr>
              <a:t>●  </a:t>
            </a:r>
            <a:r>
              <a:rPr sz="1800">
                <a:solidFill>
                  <a:srgbClr val="2C3E50"/>
                </a:solidFill>
                <a:latin typeface="Segoe UI"/>
              </a:rPr>
              <a:t>Workspace module: materials/07-repo-workflows-github-and-azure-devops/README.md</a:t>
            </a:r>
          </a:p>
          <a:p>
            <a:pPr>
              <a:spcBef>
                <a:spcPts val="400"/>
              </a:spcBef>
              <a:spcAft>
                <a:spcPts val="800"/>
              </a:spcAft>
            </a:pPr>
            <a:r>
              <a:rPr sz="1600">
                <a:solidFill>
                  <a:srgbClr val="5D6D7E"/>
                </a:solidFill>
                <a:latin typeface="Segoe UI"/>
              </a:rPr>
              <a:t>●  </a:t>
            </a:r>
            <a:r>
              <a:rPr sz="1800">
                <a:solidFill>
                  <a:srgbClr val="2C3E50"/>
                </a:solidFill>
                <a:latin typeface="Segoe UI"/>
              </a:rPr>
              <a:t>Workspace reference: references/copilot-agent-beginner-best-practices.md</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Encourage teams to turn the repo-safe prompt patterns into standard practice and store those rules where both GitHub and Azure DevOps teams can find them.</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Repo Workflows In GitHub And Azure DevOps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4114800" y="914400"/>
            <a:ext cx="3931920" cy="393192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011680"/>
            <a:ext cx="8503920" cy="1097280"/>
          </a:xfrm>
          <a:prstGeom prst="rect">
            <a:avLst/>
          </a:prstGeom>
          <a:noFill/>
        </p:spPr>
        <p:txBody>
          <a:bodyPr wrap="square">
            <a:spAutoFit/>
          </a:bodyPr>
          <a:lstStyle/>
          <a:p>
            <a:pPr algn="ctr"/>
            <a:r>
              <a:rPr sz="4400" b="1">
                <a:solidFill>
                  <a:srgbClr val="FFFFFF"/>
                </a:solidFill>
                <a:latin typeface="Segoe UI"/>
              </a:rPr>
              <a:t>Thank You</a:t>
            </a:r>
          </a:p>
        </p:txBody>
      </p:sp>
      <p:sp>
        <p:nvSpPr>
          <p:cNvPr id="4" name="TextBox 3"/>
          <p:cNvSpPr txBox="1"/>
          <p:nvPr/>
        </p:nvSpPr>
        <p:spPr>
          <a:xfrm>
            <a:off x="1828800" y="3291840"/>
            <a:ext cx="8503920" cy="731520"/>
          </a:xfrm>
          <a:prstGeom prst="rect">
            <a:avLst/>
          </a:prstGeom>
          <a:noFill/>
        </p:spPr>
        <p:txBody>
          <a:bodyPr wrap="square">
            <a:spAutoFit/>
          </a:bodyPr>
          <a:lstStyle/>
          <a:p>
            <a:pPr algn="ctr"/>
            <a:r>
              <a:rPr sz="1800" b="0">
                <a:solidFill>
                  <a:srgbClr val="BDC3C7"/>
                </a:solidFill>
                <a:latin typeface="Segoe UI"/>
              </a:rPr>
              <a:t>Repo Workflows In GitHub And Azure DevOps</a:t>
            </a:r>
          </a:p>
        </p:txBody>
      </p:sp>
      <p:sp>
        <p:nvSpPr>
          <p:cNvPr id="5" name="Rectangle 4"/>
          <p:cNvSpPr/>
          <p:nvPr/>
        </p:nvSpPr>
        <p:spPr>
          <a:xfrm>
            <a:off x="4572000" y="4389120"/>
            <a:ext cx="3017520" cy="457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754880"/>
            <a:ext cx="8503920" cy="457200"/>
          </a:xfrm>
          <a:prstGeom prst="rect">
            <a:avLst/>
          </a:prstGeom>
          <a:noFill/>
        </p:spPr>
        <p:txBody>
          <a:bodyPr wrap="square">
            <a:spAutoFit/>
          </a:bodyPr>
          <a:lstStyle/>
          <a:p>
            <a:pPr algn="ctr"/>
            <a:r>
              <a:rPr sz="1400" b="0">
                <a:solidFill>
                  <a:srgbClr val="95A5A6"/>
                </a:solidFill>
                <a:latin typeface="Segoe UI"/>
              </a:rPr>
              <a:t>AI Coding Agent Training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