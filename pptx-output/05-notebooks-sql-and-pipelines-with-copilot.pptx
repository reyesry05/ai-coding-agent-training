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module is where Copilot starts touching higher-risk artifacts. The message is simple: explain first, edit later.</a:t>
            </a:r>
          </a:p>
          <a:p>
            <a:r>
              <a:t>Connect this module to the prior two by stating that prompt quality and context quality now have to survive contact with real notebook, SQL, and pipeline artifacts. The next module turns those edits into formal review decisions.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 that data workflows often look simple on the surface but hide important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readable AI output is not the same as correct data behavior.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default safe move before any change request.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to DS and analytics workflows where notebook execution context is often incomplete.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it clear that optimization without business validation is not acceptable.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Operational reliability is the main risk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useful because they improve clarity without changing core logic.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learners that the point is not to avoid AI. The point is to sequence AI use correctly.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Observable outputs create a reviewable trail.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questions work across notebooks, SQL, and pipeline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artifact small enough to review fully in the session.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to check that learners are not drifting into over-delegation.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 examples from BI, DS, and DE work separately if possible.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Pair the first-party docs with the local module and workspace reference so learners know where to find the examples used in training.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Oval 1"/>
          <p:cNvSpPr/>
          <p:nvPr/>
        </p:nvSpPr>
        <p:spPr>
          <a:xfrm>
            <a:off x="8534095" y="-1371600"/>
            <a:ext cx="5486400" cy="5486400"/>
          </a:xfrm>
          <a:prstGeom prst="ellipse">
            <a:avLst/>
          </a:prstGeom>
          <a:solidFill>
            <a:srgbClr val="224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5029200"/>
            <a:ext cx="1371600" cy="13716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9144000" cy="1371600"/>
          </a:xfrm>
          <a:prstGeom prst="rect">
            <a:avLst/>
          </a:prstGeom>
          <a:noFill/>
        </p:spPr>
        <p:txBody>
          <a:bodyPr wrap="square">
            <a:spAutoFit/>
          </a:bodyPr>
          <a:lstStyle/>
          <a:p>
            <a:pPr algn="l"/>
            <a:r>
              <a:rPr sz="3600" b="1">
                <a:solidFill>
                  <a:srgbClr val="FFFFFF"/>
                </a:solidFill>
                <a:latin typeface="Segoe UI"/>
              </a:rPr>
              <a:t>Notebooks, SQL, And Pipelines With Copilot</a:t>
            </a:r>
          </a:p>
        </p:txBody>
      </p:sp>
      <p:sp>
        <p:nvSpPr>
          <p:cNvPr id="5" name="TextBox 4"/>
          <p:cNvSpPr txBox="1"/>
          <p:nvPr/>
        </p:nvSpPr>
        <p:spPr>
          <a:xfrm>
            <a:off x="914400" y="3474720"/>
            <a:ext cx="7315200" cy="731520"/>
          </a:xfrm>
          <a:prstGeom prst="rect">
            <a:avLst/>
          </a:prstGeom>
          <a:noFill/>
        </p:spPr>
        <p:txBody>
          <a:bodyPr wrap="square">
            <a:spAutoFit/>
          </a:bodyPr>
          <a:lstStyle/>
          <a:p>
            <a:pPr algn="l"/>
            <a:r>
              <a:rPr sz="1800" b="0">
                <a:solidFill>
                  <a:srgbClr val="BDC3C7"/>
                </a:solidFill>
                <a:latin typeface="Segoe UI"/>
              </a:rPr>
              <a:t>15 slides  |  BI, Data Science, Data Engineering</a:t>
            </a:r>
          </a:p>
        </p:txBody>
      </p:sp>
      <p:sp>
        <p:nvSpPr>
          <p:cNvPr id="6" name="Rectangle 5"/>
          <p:cNvSpPr/>
          <p:nvPr/>
        </p:nvSpPr>
        <p:spPr>
          <a:xfrm>
            <a:off x="914400" y="4572000"/>
            <a:ext cx="2743200" cy="457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754880"/>
            <a:ext cx="5486400" cy="365760"/>
          </a:xfrm>
          <a:prstGeom prst="rect">
            <a:avLst/>
          </a:prstGeom>
          <a:noFill/>
        </p:spPr>
        <p:txBody>
          <a:bodyPr wrap="square">
            <a:spAutoFit/>
          </a:bodyPr>
          <a:lstStyle/>
          <a:p>
            <a:pPr algn="l"/>
            <a:r>
              <a:rPr sz="1200" b="0">
                <a:solidFill>
                  <a:srgbClr val="95A5A6"/>
                </a:solidFill>
                <a:latin typeface="Segoe UI"/>
              </a:rPr>
              <a:t>AI Coding Agent Training  |  GitHub Copilot in VS Code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Title</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Notebooks, SQL, And Pipelines With Copilot</a:t>
            </a:r>
          </a:p>
          <a:p>
            <a:pPr>
              <a:spcBef>
                <a:spcPts val="400"/>
              </a:spcBef>
              <a:spcAft>
                <a:spcPts val="800"/>
              </a:spcAft>
            </a:pPr>
            <a:r>
              <a:rPr sz="1600">
                <a:solidFill>
                  <a:srgbClr val="0078D4"/>
                </a:solidFill>
                <a:latin typeface="Segoe UI"/>
              </a:rPr>
              <a:t>●  </a:t>
            </a:r>
            <a:r>
              <a:rPr sz="1800">
                <a:solidFill>
                  <a:srgbClr val="2C3E50"/>
                </a:solidFill>
                <a:latin typeface="Segoe UI"/>
              </a:rPr>
              <a:t>Safe data-team workflows</a:t>
            </a:r>
          </a:p>
        </p:txBody>
      </p:sp>
      <p:sp>
        <p:nvSpPr>
          <p:cNvPr id="8" name="Rounded Rectangle 7"/>
          <p:cNvSpPr/>
          <p:nvPr/>
        </p:nvSpPr>
        <p:spPr>
          <a:xfrm>
            <a:off x="8046720" y="1463040"/>
            <a:ext cx="3840480" cy="192024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1463040"/>
          </a:xfrm>
          <a:prstGeom prst="rect">
            <a:avLst/>
          </a:prstGeom>
          <a:noFill/>
        </p:spPr>
        <p:txBody>
          <a:bodyPr wrap="square">
            <a:spAutoFit/>
          </a:bodyPr>
          <a:lstStyle/>
          <a:p>
            <a:pPr>
              <a:spcAft>
                <a:spcPts val="400"/>
              </a:spcAft>
            </a:pPr>
            <a:r>
              <a:rPr sz="1100" i="1">
                <a:solidFill>
                  <a:srgbClr val="5D6D7E"/>
                </a:solidFill>
                <a:latin typeface="Segoe UI"/>
              </a:rPr>
              <a:t>This module is where Copilot starts touching higher-risk artifacts. The message is simple: explain first, edit later.</a:t>
            </a:r>
          </a:p>
          <a:p>
            <a:pPr>
              <a:spcAft>
                <a:spcPts val="400"/>
              </a:spcAft>
            </a:pPr>
            <a:r>
              <a:rPr sz="1100" i="1">
                <a:solidFill>
                  <a:srgbClr val="5D6D7E"/>
                </a:solidFill>
                <a:latin typeface="Segoe UI"/>
              </a:rPr>
              <a:t>Connect this module to the prior two by stating that prompt quality and context quality now have to survive contact with real notebook, SQL, and pipeline artifacts. The next module turns those edits into formal review decisions.</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Learning Objectives</a:t>
            </a:r>
          </a:p>
        </p:txBody>
      </p:sp>
      <p:sp>
        <p:nvSpPr>
          <p:cNvPr id="5" name="Pentagon 4"/>
          <p:cNvSpPr/>
          <p:nvPr/>
        </p:nvSpPr>
        <p:spPr>
          <a:xfrm>
            <a:off x="10972800" y="274320"/>
            <a:ext cx="548640" cy="548640"/>
          </a:xfrm>
          <a:prstGeom prst="homePlat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2</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Use Copilot safely with notebooks, SQL, and pipelines</a:t>
            </a:r>
          </a:p>
          <a:p>
            <a:pPr>
              <a:spcBef>
                <a:spcPts val="400"/>
              </a:spcBef>
              <a:spcAft>
                <a:spcPts val="800"/>
              </a:spcAft>
            </a:pPr>
            <a:r>
              <a:rPr sz="1600">
                <a:solidFill>
                  <a:srgbClr val="0078D4"/>
                </a:solidFill>
                <a:latin typeface="Segoe UI"/>
              </a:rPr>
              <a:t>●  </a:t>
            </a:r>
            <a:r>
              <a:rPr sz="1800">
                <a:solidFill>
                  <a:srgbClr val="2C3E50"/>
                </a:solidFill>
                <a:latin typeface="Segoe UI"/>
              </a:rPr>
              <a:t>Separate explanation from editing work</a:t>
            </a:r>
          </a:p>
          <a:p>
            <a:pPr>
              <a:spcBef>
                <a:spcPts val="400"/>
              </a:spcBef>
              <a:spcAft>
                <a:spcPts val="800"/>
              </a:spcAft>
            </a:pPr>
            <a:r>
              <a:rPr sz="1600">
                <a:solidFill>
                  <a:srgbClr val="0078D4"/>
                </a:solidFill>
                <a:latin typeface="Segoe UI"/>
              </a:rPr>
              <a:t>●  </a:t>
            </a:r>
            <a:r>
              <a:rPr sz="1800">
                <a:solidFill>
                  <a:srgbClr val="2C3E50"/>
                </a:solidFill>
                <a:latin typeface="Segoe UI"/>
              </a:rPr>
              <a:t>Require reproducibility and validation checks</a:t>
            </a:r>
          </a:p>
          <a:p>
            <a:pPr>
              <a:spcBef>
                <a:spcPts val="400"/>
              </a:spcBef>
              <a:spcAft>
                <a:spcPts val="800"/>
              </a:spcAft>
            </a:pPr>
            <a:r>
              <a:rPr sz="1600">
                <a:solidFill>
                  <a:srgbClr val="0078D4"/>
                </a:solidFill>
                <a:latin typeface="Segoe UI"/>
              </a:rPr>
              <a:t>●  </a:t>
            </a:r>
            <a:r>
              <a:rPr sz="1800">
                <a:solidFill>
                  <a:srgbClr val="2C3E50"/>
                </a:solidFill>
                <a:latin typeface="Segoe UI"/>
              </a:rPr>
              <a:t>Preserve business and operational meaning</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Reinforce that data workflows often look simple on the surface but hide important assumptions.</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Why Data Artifacts Need Extra Care</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3</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plausible output can still be wrong</a:t>
            </a:r>
          </a:p>
          <a:p>
            <a:pPr>
              <a:spcBef>
                <a:spcPts val="400"/>
              </a:spcBef>
              <a:spcAft>
                <a:spcPts val="800"/>
              </a:spcAft>
            </a:pPr>
            <a:r>
              <a:rPr sz="1600">
                <a:solidFill>
                  <a:srgbClr val="0078D4"/>
                </a:solidFill>
                <a:latin typeface="Segoe UI"/>
              </a:rPr>
              <a:t>●  </a:t>
            </a:r>
            <a:r>
              <a:rPr sz="1800">
                <a:solidFill>
                  <a:srgbClr val="2C3E50"/>
                </a:solidFill>
                <a:latin typeface="Segoe UI"/>
              </a:rPr>
              <a:t>data work has hidden assumptions</a:t>
            </a:r>
          </a:p>
          <a:p>
            <a:pPr>
              <a:spcBef>
                <a:spcPts val="400"/>
              </a:spcBef>
              <a:spcAft>
                <a:spcPts val="800"/>
              </a:spcAft>
            </a:pPr>
            <a:r>
              <a:rPr sz="1600">
                <a:solidFill>
                  <a:srgbClr val="0078D4"/>
                </a:solidFill>
                <a:latin typeface="Segoe UI"/>
              </a:rPr>
              <a:t>●  </a:t>
            </a:r>
            <a:r>
              <a:rPr sz="1800">
                <a:solidFill>
                  <a:srgbClr val="2C3E50"/>
                </a:solidFill>
                <a:latin typeface="Segoe UI"/>
              </a:rPr>
              <a:t>reproducibility and operations matter</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Emphasize that readable AI output is not the same as correct data behavior.</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Start With Explanation</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4</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explain first</a:t>
            </a:r>
          </a:p>
          <a:p>
            <a:pPr>
              <a:spcBef>
                <a:spcPts val="400"/>
              </a:spcBef>
              <a:spcAft>
                <a:spcPts val="800"/>
              </a:spcAft>
            </a:pPr>
            <a:r>
              <a:rPr sz="1600">
                <a:solidFill>
                  <a:srgbClr val="0078D4"/>
                </a:solidFill>
                <a:latin typeface="Segoe UI"/>
              </a:rPr>
              <a:t>●  </a:t>
            </a:r>
            <a:r>
              <a:rPr sz="1800">
                <a:solidFill>
                  <a:srgbClr val="2C3E50"/>
                </a:solidFill>
                <a:latin typeface="Segoe UI"/>
              </a:rPr>
              <a:t>identify assumptions</a:t>
            </a:r>
          </a:p>
          <a:p>
            <a:pPr>
              <a:spcBef>
                <a:spcPts val="400"/>
              </a:spcBef>
              <a:spcAft>
                <a:spcPts val="800"/>
              </a:spcAft>
            </a:pPr>
            <a:r>
              <a:rPr sz="1600">
                <a:solidFill>
                  <a:srgbClr val="0078D4"/>
                </a:solidFill>
                <a:latin typeface="Segoe UI"/>
              </a:rPr>
              <a:t>●  </a:t>
            </a:r>
            <a:r>
              <a:rPr sz="1800">
                <a:solidFill>
                  <a:srgbClr val="2C3E50"/>
                </a:solidFill>
                <a:latin typeface="Segoe UI"/>
              </a:rPr>
              <a:t>ask for missing prerequisites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This is the default safe move before any change request.</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Notebook Workflow</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5</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summarize a forecasting notebook workflow</a:t>
            </a:r>
          </a:p>
          <a:p>
            <a:pPr>
              <a:spcBef>
                <a:spcPts val="400"/>
              </a:spcBef>
              <a:spcAft>
                <a:spcPts val="800"/>
              </a:spcAft>
            </a:pPr>
            <a:r>
              <a:rPr sz="1600">
                <a:solidFill>
                  <a:srgbClr val="0078D4"/>
                </a:solidFill>
                <a:latin typeface="Segoe UI"/>
              </a:rPr>
              <a:t>●  </a:t>
            </a:r>
            <a:r>
              <a:rPr sz="1800">
                <a:solidFill>
                  <a:srgbClr val="2C3E50"/>
                </a:solidFill>
                <a:latin typeface="Segoe UI"/>
              </a:rPr>
              <a:t>find environment, seed, and data snapshot gaps</a:t>
            </a:r>
          </a:p>
          <a:p>
            <a:pPr>
              <a:spcBef>
                <a:spcPts val="400"/>
              </a:spcBef>
              <a:spcAft>
                <a:spcPts val="800"/>
              </a:spcAft>
            </a:pPr>
            <a:r>
              <a:rPr sz="1600">
                <a:solidFill>
                  <a:srgbClr val="0078D4"/>
                </a:solidFill>
                <a:latin typeface="Segoe UI"/>
              </a:rPr>
              <a:t>●  </a:t>
            </a:r>
            <a:r>
              <a:rPr sz="1800">
                <a:solidFill>
                  <a:srgbClr val="2C3E50"/>
                </a:solidFill>
                <a:latin typeface="Segoe UI"/>
              </a:rPr>
              <a:t>add a rerun checklist</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Tie this to DS and analytics workflows where notebook execution context is often incomplete.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SQL Workflow</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6</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explain joins, filters, aggregations</a:t>
            </a:r>
          </a:p>
          <a:p>
            <a:pPr>
              <a:spcBef>
                <a:spcPts val="400"/>
              </a:spcBef>
              <a:spcAft>
                <a:spcPts val="800"/>
              </a:spcAft>
            </a:pPr>
            <a:r>
              <a:rPr sz="1600">
                <a:solidFill>
                  <a:srgbClr val="0078D4"/>
                </a:solidFill>
                <a:latin typeface="Segoe UI"/>
              </a:rPr>
              <a:t>●  </a:t>
            </a:r>
            <a:r>
              <a:rPr sz="1800">
                <a:solidFill>
                  <a:srgbClr val="2C3E50"/>
                </a:solidFill>
                <a:latin typeface="Segoe UI"/>
              </a:rPr>
              <a:t>preserve business meaning</a:t>
            </a:r>
          </a:p>
          <a:p>
            <a:pPr>
              <a:spcBef>
                <a:spcPts val="400"/>
              </a:spcBef>
              <a:spcAft>
                <a:spcPts val="800"/>
              </a:spcAft>
            </a:pPr>
            <a:r>
              <a:rPr sz="1600">
                <a:solidFill>
                  <a:srgbClr val="0078D4"/>
                </a:solidFill>
                <a:latin typeface="Segoe UI"/>
              </a:rPr>
              <a:t>●  </a:t>
            </a:r>
            <a:r>
              <a:rPr sz="1800">
                <a:solidFill>
                  <a:srgbClr val="2C3E50"/>
                </a:solidFill>
                <a:latin typeface="Segoe UI"/>
              </a:rPr>
              <a:t>request comments before optimization</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Make it clear that optimization without business validation is not acceptable.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Pipeline Workflow</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7</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explain pipeline flow and upstream dependencies</a:t>
            </a:r>
          </a:p>
          <a:p>
            <a:pPr>
              <a:spcBef>
                <a:spcPts val="400"/>
              </a:spcBef>
              <a:spcAft>
                <a:spcPts val="800"/>
              </a:spcAft>
            </a:pPr>
            <a:r>
              <a:rPr sz="1600">
                <a:solidFill>
                  <a:srgbClr val="0078D4"/>
                </a:solidFill>
                <a:latin typeface="Segoe UI"/>
              </a:rPr>
              <a:t>●  </a:t>
            </a:r>
            <a:r>
              <a:rPr sz="1800">
                <a:solidFill>
                  <a:srgbClr val="2C3E50"/>
                </a:solidFill>
                <a:latin typeface="Segoe UI"/>
              </a:rPr>
              <a:t>identify failure points in daily ingestion or backfill runs</a:t>
            </a:r>
          </a:p>
          <a:p>
            <a:pPr>
              <a:spcBef>
                <a:spcPts val="400"/>
              </a:spcBef>
              <a:spcAft>
                <a:spcPts val="800"/>
              </a:spcAft>
            </a:pPr>
            <a:r>
              <a:rPr sz="1600">
                <a:solidFill>
                  <a:srgbClr val="0078D4"/>
                </a:solidFill>
                <a:latin typeface="Segoe UI"/>
              </a:rPr>
              <a:t>●  </a:t>
            </a:r>
            <a:r>
              <a:rPr sz="1800">
                <a:solidFill>
                  <a:srgbClr val="2C3E50"/>
                </a:solidFill>
                <a:latin typeface="Segoe UI"/>
              </a:rPr>
              <a:t>add validation or troubleshooting notes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Operational reliability is the main risk here.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Safe Improvement Types</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8</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checklist</a:t>
            </a:r>
          </a:p>
          <a:p>
            <a:pPr>
              <a:spcBef>
                <a:spcPts val="400"/>
              </a:spcBef>
              <a:spcAft>
                <a:spcPts val="800"/>
              </a:spcAft>
            </a:pPr>
            <a:r>
              <a:rPr sz="1600">
                <a:solidFill>
                  <a:srgbClr val="0078D4"/>
                </a:solidFill>
                <a:latin typeface="Segoe UI"/>
              </a:rPr>
              <a:t>●  </a:t>
            </a:r>
            <a:r>
              <a:rPr sz="1800">
                <a:solidFill>
                  <a:srgbClr val="2C3E50"/>
                </a:solidFill>
                <a:latin typeface="Segoe UI"/>
              </a:rPr>
              <a:t>prerequisites section</a:t>
            </a:r>
          </a:p>
          <a:p>
            <a:pPr>
              <a:spcBef>
                <a:spcPts val="400"/>
              </a:spcBef>
              <a:spcAft>
                <a:spcPts val="800"/>
              </a:spcAft>
            </a:pPr>
            <a:r>
              <a:rPr sz="1600">
                <a:solidFill>
                  <a:srgbClr val="0078D4"/>
                </a:solidFill>
                <a:latin typeface="Segoe UI"/>
              </a:rPr>
              <a:t>●  </a:t>
            </a:r>
            <a:r>
              <a:rPr sz="1800">
                <a:solidFill>
                  <a:srgbClr val="2C3E50"/>
                </a:solidFill>
                <a:latin typeface="Segoe UI"/>
              </a:rPr>
              <a:t>troubleshooting note</a:t>
            </a:r>
          </a:p>
          <a:p>
            <a:pPr>
              <a:spcBef>
                <a:spcPts val="400"/>
              </a:spcBef>
              <a:spcAft>
                <a:spcPts val="800"/>
              </a:spcAft>
            </a:pPr>
            <a:r>
              <a:rPr sz="1600">
                <a:solidFill>
                  <a:srgbClr val="0078D4"/>
                </a:solidFill>
                <a:latin typeface="Segoe UI"/>
              </a:rPr>
              <a:t>●  </a:t>
            </a:r>
            <a:r>
              <a:rPr sz="1800">
                <a:solidFill>
                  <a:srgbClr val="2C3E50"/>
                </a:solidFill>
                <a:latin typeface="Segoe UI"/>
              </a:rPr>
              <a:t>validation note</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These are useful because they improve clarity without changing core logic.</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What Not To Delegate Too Early</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9</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major logic rewrites</a:t>
            </a:r>
          </a:p>
          <a:p>
            <a:pPr>
              <a:spcBef>
                <a:spcPts val="400"/>
              </a:spcBef>
              <a:spcAft>
                <a:spcPts val="800"/>
              </a:spcAft>
            </a:pPr>
            <a:r>
              <a:rPr sz="1600">
                <a:solidFill>
                  <a:srgbClr val="0078D4"/>
                </a:solidFill>
                <a:latin typeface="Segoe UI"/>
              </a:rPr>
              <a:t>●  </a:t>
            </a:r>
            <a:r>
              <a:rPr sz="1800">
                <a:solidFill>
                  <a:srgbClr val="2C3E50"/>
                </a:solidFill>
                <a:latin typeface="Segoe UI"/>
              </a:rPr>
              <a:t>business rule changes</a:t>
            </a:r>
          </a:p>
          <a:p>
            <a:pPr>
              <a:spcBef>
                <a:spcPts val="400"/>
              </a:spcBef>
              <a:spcAft>
                <a:spcPts val="800"/>
              </a:spcAft>
            </a:pPr>
            <a:r>
              <a:rPr sz="1600">
                <a:solidFill>
                  <a:srgbClr val="0078D4"/>
                </a:solidFill>
                <a:latin typeface="Segoe UI"/>
              </a:rPr>
              <a:t>●  </a:t>
            </a:r>
            <a:r>
              <a:rPr sz="1800">
                <a:solidFill>
                  <a:srgbClr val="2C3E50"/>
                </a:solidFill>
                <a:latin typeface="Segoe UI"/>
              </a:rPr>
              <a:t>dependency-sensitive pipeline edits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Tell learners that the point is not to avoid AI. The point is to sequence AI use correctly.</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Observable Outputs</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10</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explanation</a:t>
            </a:r>
          </a:p>
          <a:p>
            <a:pPr>
              <a:spcBef>
                <a:spcPts val="400"/>
              </a:spcBef>
              <a:spcAft>
                <a:spcPts val="800"/>
              </a:spcAft>
            </a:pPr>
            <a:r>
              <a:rPr sz="1600">
                <a:solidFill>
                  <a:srgbClr val="0078D4"/>
                </a:solidFill>
                <a:latin typeface="Segoe UI"/>
              </a:rPr>
              <a:t>●  </a:t>
            </a:r>
            <a:r>
              <a:rPr sz="1800">
                <a:solidFill>
                  <a:srgbClr val="2C3E50"/>
                </a:solidFill>
                <a:latin typeface="Segoe UI"/>
              </a:rPr>
              <a:t>assumptions list</a:t>
            </a:r>
          </a:p>
          <a:p>
            <a:pPr>
              <a:spcBef>
                <a:spcPts val="400"/>
              </a:spcBef>
              <a:spcAft>
                <a:spcPts val="800"/>
              </a:spcAft>
            </a:pPr>
            <a:r>
              <a:rPr sz="1600">
                <a:solidFill>
                  <a:srgbClr val="0078D4"/>
                </a:solidFill>
                <a:latin typeface="Segoe UI"/>
              </a:rPr>
              <a:t>●  </a:t>
            </a:r>
            <a:r>
              <a:rPr sz="1800">
                <a:solidFill>
                  <a:srgbClr val="2C3E50"/>
                </a:solidFill>
                <a:latin typeface="Segoe UI"/>
              </a:rPr>
              <a:t>checklist</a:t>
            </a:r>
          </a:p>
          <a:p>
            <a:pPr>
              <a:spcBef>
                <a:spcPts val="400"/>
              </a:spcBef>
              <a:spcAft>
                <a:spcPts val="800"/>
              </a:spcAft>
            </a:pPr>
            <a:r>
              <a:rPr sz="1600">
                <a:solidFill>
                  <a:srgbClr val="0078D4"/>
                </a:solidFill>
                <a:latin typeface="Segoe UI"/>
              </a:rPr>
              <a:t>●  </a:t>
            </a:r>
            <a:r>
              <a:rPr sz="1800">
                <a:solidFill>
                  <a:srgbClr val="2C3E50"/>
                </a:solidFill>
                <a:latin typeface="Segoe UI"/>
              </a:rPr>
              <a:t>human validation note</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Observable outputs create a reviewable trail.</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Review Questions</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11</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what changed</a:t>
            </a:r>
          </a:p>
          <a:p>
            <a:pPr>
              <a:spcBef>
                <a:spcPts val="400"/>
              </a:spcBef>
              <a:spcAft>
                <a:spcPts val="800"/>
              </a:spcAft>
            </a:pPr>
            <a:r>
              <a:rPr sz="1600">
                <a:solidFill>
                  <a:srgbClr val="0078D4"/>
                </a:solidFill>
                <a:latin typeface="Segoe UI"/>
              </a:rPr>
              <a:t>●  </a:t>
            </a:r>
            <a:r>
              <a:rPr sz="1800">
                <a:solidFill>
                  <a:srgbClr val="2C3E50"/>
                </a:solidFill>
                <a:latin typeface="Segoe UI"/>
              </a:rPr>
              <a:t>what stayed the same</a:t>
            </a:r>
          </a:p>
          <a:p>
            <a:pPr>
              <a:spcBef>
                <a:spcPts val="400"/>
              </a:spcBef>
              <a:spcAft>
                <a:spcPts val="800"/>
              </a:spcAft>
            </a:pPr>
            <a:r>
              <a:rPr sz="1600">
                <a:solidFill>
                  <a:srgbClr val="0078D4"/>
                </a:solidFill>
                <a:latin typeface="Segoe UI"/>
              </a:rPr>
              <a:t>●  </a:t>
            </a:r>
            <a:r>
              <a:rPr sz="1800">
                <a:solidFill>
                  <a:srgbClr val="2C3E50"/>
                </a:solidFill>
                <a:latin typeface="Segoe UI"/>
              </a:rPr>
              <a:t>what still needs human validation</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These three questions work across notebooks, SQL, and pipeline documentation.</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78D4"/>
        </a:solidFill>
        <a:effectLst/>
      </p:bgPr>
    </p:bg>
    <p:spTree>
      <p:nvGrpSpPr>
        <p:cNvPr id="1" name=""/>
        <p:cNvGrpSpPr/>
        <p:nvPr/>
      </p:nvGrpSpPr>
      <p:grpSpPr/>
      <p:sp>
        <p:nvSpPr>
          <p:cNvPr id="2" name="Oval 1"/>
          <p:cNvSpPr/>
          <p:nvPr/>
        </p:nvSpPr>
        <p:spPr>
          <a:xfrm>
            <a:off x="-1828800" y="-1828800"/>
            <a:ext cx="4572000" cy="4572000"/>
          </a:xfrm>
          <a:prstGeom prst="ellipse">
            <a:avLst/>
          </a:prstGeom>
          <a:solidFill>
            <a:srgbClr val="006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00" y="3657600"/>
            <a:ext cx="3657600" cy="3657600"/>
          </a:xfrm>
          <a:prstGeom prst="ellipse">
            <a:avLst/>
          </a:prstGeom>
          <a:solidFill>
            <a:srgbClr val="006A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286000"/>
            <a:ext cx="8229600" cy="1371600"/>
          </a:xfrm>
          <a:prstGeom prst="rect">
            <a:avLst/>
          </a:prstGeom>
          <a:noFill/>
        </p:spPr>
        <p:txBody>
          <a:bodyPr wrap="square">
            <a:spAutoFit/>
          </a:bodyPr>
          <a:lstStyle/>
          <a:p>
            <a:pPr algn="ctr"/>
            <a:r>
              <a:rPr sz="3600" b="1">
                <a:solidFill>
                  <a:srgbClr val="FFFFFF"/>
                </a:solidFill>
                <a:latin typeface="Segoe UI"/>
              </a:rPr>
              <a:t>Hands-On Lab</a:t>
            </a:r>
          </a:p>
        </p:txBody>
      </p:sp>
      <p:sp>
        <p:nvSpPr>
          <p:cNvPr id="5" name="TextBox 4"/>
          <p:cNvSpPr txBox="1"/>
          <p:nvPr/>
        </p:nvSpPr>
        <p:spPr>
          <a:xfrm>
            <a:off x="1828800" y="3840480"/>
            <a:ext cx="8229600" cy="731520"/>
          </a:xfrm>
          <a:prstGeom prst="rect">
            <a:avLst/>
          </a:prstGeom>
          <a:noFill/>
        </p:spPr>
        <p:txBody>
          <a:bodyPr wrap="square">
            <a:spAutoFit/>
          </a:bodyPr>
          <a:lstStyle/>
          <a:p>
            <a:pPr algn="ctr"/>
            <a:r>
              <a:rPr sz="1800" b="0">
                <a:solidFill>
                  <a:srgbClr val="D6EAF8"/>
                </a:solidFill>
                <a:latin typeface="Segoe UI"/>
              </a:rPr>
              <a:t>Time to practice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Artifact Risk Exercise</a:t>
            </a:r>
          </a:p>
        </p:txBody>
      </p:sp>
      <p:sp>
        <p:nvSpPr>
          <p:cNvPr id="5" name="Process 4"/>
          <p:cNvSpPr/>
          <p:nvPr/>
        </p:nvSpPr>
        <p:spPr>
          <a:xfrm>
            <a:off x="10972800" y="274320"/>
            <a:ext cx="548640" cy="548640"/>
          </a:xfrm>
          <a:prstGeom prst="flowChartProcess">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12</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2ECC71"/>
                </a:solidFill>
                <a:latin typeface="Segoe UI"/>
              </a:rPr>
              <a:t>●  </a:t>
            </a:r>
            <a:r>
              <a:rPr sz="1800">
                <a:solidFill>
                  <a:srgbClr val="2C3E50"/>
                </a:solidFill>
                <a:latin typeface="Segoe UI"/>
              </a:rPr>
              <a:t>choose one artifact</a:t>
            </a:r>
          </a:p>
          <a:p>
            <a:pPr>
              <a:spcBef>
                <a:spcPts val="400"/>
              </a:spcBef>
              <a:spcAft>
                <a:spcPts val="800"/>
              </a:spcAft>
            </a:pPr>
            <a:r>
              <a:rPr sz="1600">
                <a:solidFill>
                  <a:srgbClr val="2ECC71"/>
                </a:solidFill>
                <a:latin typeface="Segoe UI"/>
              </a:rPr>
              <a:t>●  </a:t>
            </a:r>
            <a:r>
              <a:rPr sz="1800">
                <a:solidFill>
                  <a:srgbClr val="2C3E50"/>
                </a:solidFill>
                <a:latin typeface="Segoe UI"/>
              </a:rPr>
              <a:t>explain it</a:t>
            </a:r>
          </a:p>
          <a:p>
            <a:pPr>
              <a:spcBef>
                <a:spcPts val="400"/>
              </a:spcBef>
              <a:spcAft>
                <a:spcPts val="800"/>
              </a:spcAft>
            </a:pPr>
            <a:r>
              <a:rPr sz="1600">
                <a:solidFill>
                  <a:srgbClr val="2ECC71"/>
                </a:solidFill>
                <a:latin typeface="Segoe UI"/>
              </a:rPr>
              <a:t>●  </a:t>
            </a:r>
            <a:r>
              <a:rPr sz="1800">
                <a:solidFill>
                  <a:srgbClr val="2C3E50"/>
                </a:solidFill>
                <a:latin typeface="Segoe UI"/>
              </a:rPr>
              <a:t>identify risks</a:t>
            </a:r>
          </a:p>
          <a:p>
            <a:pPr>
              <a:spcBef>
                <a:spcPts val="400"/>
              </a:spcBef>
              <a:spcAft>
                <a:spcPts val="800"/>
              </a:spcAft>
            </a:pPr>
            <a:r>
              <a:rPr sz="1600">
                <a:solidFill>
                  <a:srgbClr val="2ECC71"/>
                </a:solidFill>
                <a:latin typeface="Segoe UI"/>
              </a:rPr>
              <a:t>●  </a:t>
            </a:r>
            <a:r>
              <a:rPr sz="1800">
                <a:solidFill>
                  <a:srgbClr val="2C3E50"/>
                </a:solidFill>
                <a:latin typeface="Segoe UI"/>
              </a:rPr>
              <a:t>add one low-risk improvement</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Keep the artifact small enough to review fully in the session.</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Readiness Check</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13</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learner can distinguish safe vs risky edits</a:t>
            </a:r>
          </a:p>
          <a:p>
            <a:pPr>
              <a:spcBef>
                <a:spcPts val="400"/>
              </a:spcBef>
              <a:spcAft>
                <a:spcPts val="800"/>
              </a:spcAft>
            </a:pPr>
            <a:r>
              <a:rPr sz="1600">
                <a:solidFill>
                  <a:srgbClr val="0078D4"/>
                </a:solidFill>
                <a:latin typeface="Segoe UI"/>
              </a:rPr>
              <a:t>●  </a:t>
            </a:r>
            <a:r>
              <a:rPr sz="1800">
                <a:solidFill>
                  <a:srgbClr val="2C3E50"/>
                </a:solidFill>
                <a:latin typeface="Segoe UI"/>
              </a:rPr>
              <a:t>learner can preserve meaning</a:t>
            </a:r>
          </a:p>
          <a:p>
            <a:pPr>
              <a:spcBef>
                <a:spcPts val="400"/>
              </a:spcBef>
              <a:spcAft>
                <a:spcPts val="800"/>
              </a:spcAft>
            </a:pPr>
            <a:r>
              <a:rPr sz="1600">
                <a:solidFill>
                  <a:srgbClr val="0078D4"/>
                </a:solidFill>
                <a:latin typeface="Segoe UI"/>
              </a:rPr>
              <a:t>●  </a:t>
            </a:r>
            <a:r>
              <a:rPr sz="1800">
                <a:solidFill>
                  <a:srgbClr val="2C3E50"/>
                </a:solidFill>
                <a:latin typeface="Segoe UI"/>
              </a:rPr>
              <a:t>learner can record human review items</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Use this to check that learners are not drifting into over-delegation.</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Risk Debrief</a:t>
            </a:r>
          </a:p>
        </p:txBody>
      </p:sp>
      <p:sp>
        <p:nvSpPr>
          <p:cNvPr id="5" name="Rounded Rectangle 4"/>
          <p:cNvSpPr/>
          <p:nvPr/>
        </p:nvSpPr>
        <p:spPr>
          <a:xfrm>
            <a:off x="10972800" y="274320"/>
            <a:ext cx="548640" cy="54864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14</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0078D4"/>
                </a:solidFill>
                <a:latin typeface="Segoe UI"/>
              </a:rPr>
              <a:t>●  </a:t>
            </a:r>
            <a:r>
              <a:rPr sz="1800">
                <a:solidFill>
                  <a:srgbClr val="2C3E50"/>
                </a:solidFill>
                <a:latin typeface="Segoe UI"/>
              </a:rPr>
              <a:t>which artifact felt riskiest?</a:t>
            </a:r>
          </a:p>
          <a:p>
            <a:pPr>
              <a:spcBef>
                <a:spcPts val="400"/>
              </a:spcBef>
              <a:spcAft>
                <a:spcPts val="800"/>
              </a:spcAft>
            </a:pPr>
            <a:r>
              <a:rPr sz="1600">
                <a:solidFill>
                  <a:srgbClr val="0078D4"/>
                </a:solidFill>
                <a:latin typeface="Segoe UI"/>
              </a:rPr>
              <a:t>●  </a:t>
            </a:r>
            <a:r>
              <a:rPr sz="1800">
                <a:solidFill>
                  <a:srgbClr val="2C3E50"/>
                </a:solidFill>
                <a:latin typeface="Segoe UI"/>
              </a:rPr>
              <a:t>what review rule matters most?</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Pull examples from BI, DS, and DE work separately if possible.</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0"/>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28600"/>
            <a:ext cx="9144000" cy="731520"/>
          </a:xfrm>
          <a:prstGeom prst="rect">
            <a:avLst/>
          </a:prstGeom>
          <a:noFill/>
        </p:spPr>
        <p:txBody>
          <a:bodyPr wrap="square">
            <a:spAutoFit/>
          </a:bodyPr>
          <a:lstStyle/>
          <a:p>
            <a:pPr algn="l"/>
            <a:r>
              <a:rPr sz="2800" b="1">
                <a:solidFill>
                  <a:srgbClr val="FFFFFF"/>
                </a:solidFill>
                <a:latin typeface="Segoe UI"/>
              </a:rPr>
              <a:t>References</a:t>
            </a:r>
          </a:p>
        </p:txBody>
      </p:sp>
      <p:sp>
        <p:nvSpPr>
          <p:cNvPr id="5" name="Folded Corner 4"/>
          <p:cNvSpPr/>
          <p:nvPr/>
        </p:nvSpPr>
        <p:spPr>
          <a:xfrm>
            <a:off x="10972800" y="274320"/>
            <a:ext cx="548640" cy="548640"/>
          </a:xfrm>
          <a:prstGeom prst="foldedCorner">
            <a:avLst/>
          </a:prstGeom>
          <a:solidFill>
            <a:srgbClr val="5D6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789920" y="228600"/>
            <a:ext cx="1097280" cy="365760"/>
          </a:xfrm>
          <a:prstGeom prst="rect">
            <a:avLst/>
          </a:prstGeom>
          <a:noFill/>
        </p:spPr>
        <p:txBody>
          <a:bodyPr wrap="square">
            <a:spAutoFit/>
          </a:bodyPr>
          <a:lstStyle/>
          <a:p>
            <a:pPr algn="r"/>
            <a:r>
              <a:rPr sz="1200" b="0">
                <a:solidFill>
                  <a:srgbClr val="FFFFFF"/>
                </a:solidFill>
                <a:latin typeface="Segoe UI"/>
              </a:rPr>
              <a:t>15</a:t>
            </a:r>
          </a:p>
        </p:txBody>
      </p:sp>
      <p:sp>
        <p:nvSpPr>
          <p:cNvPr id="7" name="TextBox 6"/>
          <p:cNvSpPr txBox="1"/>
          <p:nvPr/>
        </p:nvSpPr>
        <p:spPr>
          <a:xfrm>
            <a:off x="731520" y="1463040"/>
            <a:ext cx="6858000" cy="4114800"/>
          </a:xfrm>
          <a:prstGeom prst="rect">
            <a:avLst/>
          </a:prstGeom>
          <a:noFill/>
        </p:spPr>
        <p:txBody>
          <a:bodyPr wrap="square">
            <a:spAutoFit/>
          </a:bodyPr>
          <a:lstStyle/>
          <a:p>
            <a:pPr>
              <a:spcBef>
                <a:spcPts val="400"/>
              </a:spcBef>
              <a:spcAft>
                <a:spcPts val="800"/>
              </a:spcAft>
            </a:pPr>
            <a:r>
              <a:rPr sz="1600">
                <a:solidFill>
                  <a:srgbClr val="5D6D7E"/>
                </a:solidFill>
                <a:latin typeface="Segoe UI"/>
              </a:rPr>
              <a:t>●  </a:t>
            </a:r>
            <a:r>
              <a:rPr sz="1800">
                <a:solidFill>
                  <a:srgbClr val="2C3E50"/>
                </a:solidFill>
                <a:latin typeface="Segoe UI"/>
              </a:rPr>
              <a:t>VS Code prompt engineering guide</a:t>
            </a:r>
          </a:p>
          <a:p>
            <a:pPr>
              <a:spcBef>
                <a:spcPts val="400"/>
              </a:spcBef>
              <a:spcAft>
                <a:spcPts val="800"/>
              </a:spcAft>
            </a:pPr>
            <a:r>
              <a:rPr sz="1600">
                <a:solidFill>
                  <a:srgbClr val="5D6D7E"/>
                </a:solidFill>
                <a:latin typeface="Segoe UI"/>
              </a:rPr>
              <a:t>●  </a:t>
            </a:r>
            <a:r>
              <a:rPr sz="1800">
                <a:solidFill>
                  <a:srgbClr val="2C3E50"/>
                </a:solidFill>
                <a:latin typeface="Segoe UI"/>
              </a:rPr>
              <a:t>VS Code AI best practices</a:t>
            </a:r>
          </a:p>
          <a:p>
            <a:pPr>
              <a:spcBef>
                <a:spcPts val="400"/>
              </a:spcBef>
              <a:spcAft>
                <a:spcPts val="800"/>
              </a:spcAft>
            </a:pPr>
            <a:r>
              <a:rPr sz="1600">
                <a:solidFill>
                  <a:srgbClr val="5D6D7E"/>
                </a:solidFill>
                <a:latin typeface="Segoe UI"/>
              </a:rPr>
              <a:t>●  </a:t>
            </a:r>
            <a:r>
              <a:rPr sz="1800">
                <a:solidFill>
                  <a:srgbClr val="2C3E50"/>
                </a:solidFill>
                <a:latin typeface="Segoe UI"/>
              </a:rPr>
              <a:t>GitHub Copilot best practices</a:t>
            </a:r>
          </a:p>
          <a:p>
            <a:pPr>
              <a:spcBef>
                <a:spcPts val="400"/>
              </a:spcBef>
              <a:spcAft>
                <a:spcPts val="800"/>
              </a:spcAft>
            </a:pPr>
            <a:r>
              <a:rPr sz="1600">
                <a:solidFill>
                  <a:srgbClr val="5D6D7E"/>
                </a:solidFill>
                <a:latin typeface="Segoe UI"/>
              </a:rPr>
              <a:t>●  </a:t>
            </a:r>
            <a:r>
              <a:rPr sz="1800">
                <a:solidFill>
                  <a:srgbClr val="2C3E50"/>
                </a:solidFill>
                <a:latin typeface="Segoe UI"/>
              </a:rPr>
              <a:t>Workspace module: materials/05-notebooks-sql-and-pipelines-with-copilot/README.md</a:t>
            </a:r>
          </a:p>
          <a:p>
            <a:pPr>
              <a:spcBef>
                <a:spcPts val="400"/>
              </a:spcBef>
              <a:spcAft>
                <a:spcPts val="800"/>
              </a:spcAft>
            </a:pPr>
            <a:r>
              <a:rPr sz="1600">
                <a:solidFill>
                  <a:srgbClr val="5D6D7E"/>
                </a:solidFill>
                <a:latin typeface="Segoe UI"/>
              </a:rPr>
              <a:t>●  </a:t>
            </a:r>
            <a:r>
              <a:rPr sz="1800">
                <a:solidFill>
                  <a:srgbClr val="2C3E50"/>
                </a:solidFill>
                <a:latin typeface="Segoe UI"/>
              </a:rPr>
              <a:t>Workspace reference: references/copilot-agent-beginner-best-practices.md</a:t>
            </a:r>
          </a:p>
        </p:txBody>
      </p:sp>
      <p:sp>
        <p:nvSpPr>
          <p:cNvPr id="8" name="Rounded Rectangle 7"/>
          <p:cNvSpPr/>
          <p:nvPr/>
        </p:nvSpPr>
        <p:spPr>
          <a:xfrm>
            <a:off x="8046720" y="1463040"/>
            <a:ext cx="3840480" cy="1417320"/>
          </a:xfrm>
          <a:prstGeom prst="roundRect">
            <a:avLst/>
          </a:prstGeom>
          <a:solidFill>
            <a:srgbClr val="FDF2E9"/>
          </a:solidFill>
          <a:ln w="12700">
            <a:solidFill>
              <a:srgbClr val="E0C8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554480"/>
            <a:ext cx="3474720" cy="274320"/>
          </a:xfrm>
          <a:prstGeom prst="rect">
            <a:avLst/>
          </a:prstGeom>
          <a:noFill/>
        </p:spPr>
        <p:txBody>
          <a:bodyPr wrap="none">
            <a:spAutoFit/>
          </a:bodyPr>
          <a:lstStyle/>
          <a:p>
            <a:r>
              <a:rPr sz="900" b="1">
                <a:solidFill>
                  <a:srgbClr val="5D6D7E"/>
                </a:solidFill>
                <a:latin typeface="Segoe UI"/>
              </a:rPr>
              <a:t>PRESENTER NOTES</a:t>
            </a:r>
          </a:p>
        </p:txBody>
      </p:sp>
      <p:sp>
        <p:nvSpPr>
          <p:cNvPr id="10" name="TextBox 9"/>
          <p:cNvSpPr txBox="1"/>
          <p:nvPr/>
        </p:nvSpPr>
        <p:spPr>
          <a:xfrm>
            <a:off x="8229600" y="1828800"/>
            <a:ext cx="3474720" cy="960120"/>
          </a:xfrm>
          <a:prstGeom prst="rect">
            <a:avLst/>
          </a:prstGeom>
          <a:noFill/>
        </p:spPr>
        <p:txBody>
          <a:bodyPr wrap="square">
            <a:spAutoFit/>
          </a:bodyPr>
          <a:lstStyle/>
          <a:p>
            <a:pPr>
              <a:spcAft>
                <a:spcPts val="400"/>
              </a:spcAft>
            </a:pPr>
            <a:r>
              <a:rPr sz="1100" i="1">
                <a:solidFill>
                  <a:srgbClr val="5D6D7E"/>
                </a:solidFill>
                <a:latin typeface="Segoe UI"/>
              </a:rPr>
              <a:t>Pair the first-party docs with the local module and workspace reference so learners know where to find the examples used in training.</a:t>
            </a:r>
          </a:p>
        </p:txBody>
      </p:sp>
      <p:sp>
        <p:nvSpPr>
          <p:cNvPr id="11" name="Rectangle 10"/>
          <p:cNvSpPr/>
          <p:nvPr/>
        </p:nvSpPr>
        <p:spPr>
          <a:xfrm>
            <a:off x="0" y="6446520"/>
            <a:ext cx="12191695" cy="4114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a:solidFill>
                  <a:srgbClr val="FFFFFF"/>
                </a:solidFill>
              </a:rPr>
              <a:t>Notebooks, SQL, And Pipelines With Copilot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Oval 1"/>
          <p:cNvSpPr/>
          <p:nvPr/>
        </p:nvSpPr>
        <p:spPr>
          <a:xfrm>
            <a:off x="4114800" y="914400"/>
            <a:ext cx="3931920" cy="393192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011680"/>
            <a:ext cx="8503920" cy="1097280"/>
          </a:xfrm>
          <a:prstGeom prst="rect">
            <a:avLst/>
          </a:prstGeom>
          <a:noFill/>
        </p:spPr>
        <p:txBody>
          <a:bodyPr wrap="square">
            <a:spAutoFit/>
          </a:bodyPr>
          <a:lstStyle/>
          <a:p>
            <a:pPr algn="ctr"/>
            <a:r>
              <a:rPr sz="4400" b="1">
                <a:solidFill>
                  <a:srgbClr val="FFFFFF"/>
                </a:solidFill>
                <a:latin typeface="Segoe UI"/>
              </a:rPr>
              <a:t>Thank You</a:t>
            </a:r>
          </a:p>
        </p:txBody>
      </p:sp>
      <p:sp>
        <p:nvSpPr>
          <p:cNvPr id="4" name="TextBox 3"/>
          <p:cNvSpPr txBox="1"/>
          <p:nvPr/>
        </p:nvSpPr>
        <p:spPr>
          <a:xfrm>
            <a:off x="1828800" y="3291840"/>
            <a:ext cx="8503920" cy="731520"/>
          </a:xfrm>
          <a:prstGeom prst="rect">
            <a:avLst/>
          </a:prstGeom>
          <a:noFill/>
        </p:spPr>
        <p:txBody>
          <a:bodyPr wrap="square">
            <a:spAutoFit/>
          </a:bodyPr>
          <a:lstStyle/>
          <a:p>
            <a:pPr algn="ctr"/>
            <a:r>
              <a:rPr sz="1800" b="0">
                <a:solidFill>
                  <a:srgbClr val="BDC3C7"/>
                </a:solidFill>
                <a:latin typeface="Segoe UI"/>
              </a:rPr>
              <a:t>Notebooks, SQL, And Pipelines With Copilot</a:t>
            </a:r>
          </a:p>
        </p:txBody>
      </p:sp>
      <p:sp>
        <p:nvSpPr>
          <p:cNvPr id="5" name="Rectangle 4"/>
          <p:cNvSpPr/>
          <p:nvPr/>
        </p:nvSpPr>
        <p:spPr>
          <a:xfrm>
            <a:off x="4572000" y="4389120"/>
            <a:ext cx="3017520" cy="457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754880"/>
            <a:ext cx="8503920" cy="457200"/>
          </a:xfrm>
          <a:prstGeom prst="rect">
            <a:avLst/>
          </a:prstGeom>
          <a:noFill/>
        </p:spPr>
        <p:txBody>
          <a:bodyPr wrap="square">
            <a:spAutoFit/>
          </a:bodyPr>
          <a:lstStyle/>
          <a:p>
            <a:pPr algn="ctr"/>
            <a:r>
              <a:rPr sz="1400" b="0">
                <a:solidFill>
                  <a:srgbClr val="95A5A6"/>
                </a:solidFill>
                <a:latin typeface="Segoe UI"/>
              </a:rPr>
              <a:t>AI Coding Agent Training  |  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