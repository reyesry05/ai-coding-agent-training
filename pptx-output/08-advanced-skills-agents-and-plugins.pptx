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this as the first advanced module after the beginner core. Learners should leave with a decision model, not just more terminology.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Teams often create unnecessary automation because they skip the classification step.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definitions simple and repeat them exactly.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Encourage learners to ask one question first: what is actually missing?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Show the layered pattern rather than teaching the parts in isolation.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a concrete reporting example instead of generic automation language.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Keep the example grounded in reproducibility and experiment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Focus on incident triage rather than promising automatic fixes.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the control point. Do not rush through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learners to classify one workflow from their own team.</a:t>
            </a:r>
          </a:p>
          <a:p>
            <a:r>
              <a:t>Write the workflow outcome in one sentence.</a:t>
            </a:r>
          </a:p>
          <a:p>
            <a:r>
              <a:t>Label what belongs in a skill.</a:t>
            </a:r>
          </a:p>
          <a:p>
            <a:r>
              <a:t>Label what belongs in an agent.</a:t>
            </a:r>
          </a:p>
          <a:p>
            <a:r>
              <a:t>Label what requires plugin access.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Learners should be able to justify the architecture, not just label the boxes.</a:t>
            </a:r>
          </a:p>
          <a:p>
            <a:r>
              <a:t>Why is this not only a checklist?</a:t>
            </a:r>
          </a:p>
          <a:p>
            <a:r>
              <a:t>Why is this not only a plugin?</a:t>
            </a:r>
          </a:p>
          <a:p>
            <a:r>
              <a:t>What stays manual?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where the team should deliberately avoid more automation.</a:t>
            </a:r>
          </a:p>
          <a:p>
            <a:r>
              <a:t>What task is over-automated today?</a:t>
            </a:r>
          </a:p>
          <a:p>
            <a:r>
              <a:t>Where would a reusable skill help immediately?</a:t>
            </a:r>
          </a:p>
          <a:p>
            <a:r>
              <a:t>Which plugin request would need the strongest review?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learners to the local comparison reference so the terminology stays consistent across later modules.</a:t>
            </a:r>
          </a:p>
          <a:p>
            <a:r>
              <a:t>`references/skills-agents-and-plugins-differences.md`</a:t>
            </a:r>
          </a:p>
          <a:p>
            <a:r>
              <a:t>`references/copilot-agent-beginner-best-practices.md`</a:t>
            </a:r>
          </a:p>
          <a:p>
            <a:r>
              <a:t>`references/awesome-copilot-agents-for-presentation-improvement.md`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34095" y="-1371600"/>
            <a:ext cx="5486400" cy="5486400"/>
          </a:xfrm>
          <a:prstGeom prst="ellipse">
            <a:avLst/>
          </a:prstGeom>
          <a:solidFill>
            <a:srgbClr val="224E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5029200"/>
            <a:ext cx="1371600" cy="137160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Advanced Skills, Agents, And Plugins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0"/>
            <a:ext cx="7315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BDC3C7"/>
                </a:solidFill>
                <a:latin typeface="Segoe UI"/>
              </a:rPr>
              <a:t>13 slides  |  BI, Data Science, Data Engineering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572000"/>
            <a:ext cx="2743200" cy="4572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5A5A6"/>
                </a:solidFill>
                <a:latin typeface="Segoe UI"/>
              </a:rPr>
              <a:t>AI Coding Agent Training  |  GitHub Copilot in VS Code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Module Purpose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Module 08 moves from safe beginner use into controlled advanced design.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The main goal is to choose the right building block for the job.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Introduce this as the first advanced module after the beginner core. Learners should leave with a decision model, not just more terminology.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Why This Matters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 repeated checklist is not automatically an agent.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An agent is not useful if it lacks the capability access it needs.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 plugin does not provide judgment by itself.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Teams often create unnecessary automation because they skip the classification step.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Core Definitions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Skill: reusable guidance, method, checklist, or pattern for a type of work.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task execution workflow that can reason across steps and carry a task forward.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Plugin: external capability provider such as an extension, MCP server, or integration.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Keep the definitions simple and repeat them exactly.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Decision Rules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Missing consistency: start with a skill.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Missing multi-step execution: add an agent.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Missing system access: add a plugin.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Encourage learners to ask one question first: what is actually missing?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How They Work Together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Skill sets the method.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 runs the workflow.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Plugin provides external access.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 notebook reproducibility skill defines the review checklist.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 review agent executes the checklist across files.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 plugin exposes experiment metadata or artifact access.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Show the layered pattern rather than teaching the parts in isolation.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BI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Skill: monthly KPI release checklist for gross margin, net sales, and YTD revenue.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report review agent that compares README guidance, glossary terms, and release notes.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Plugin: Power BI or metadata integration that exposes model context.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Use a concrete reporting example instead of generic automation language.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DS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Skill: notebook reproducibility standard covering seeds, package versions, and dataset snapshots.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experiment review agent that inspects notebook notes and dependency files.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Plugin: registry or experiment-tracking integration.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Keep the example grounded in reproducibility and experiment discipline.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 Example</a:t>
            </a:r>
          </a:p>
        </p:txBody>
      </p:sp>
      <p:sp>
        <p:nvSpPr>
          <p:cNvPr id="5" name="Chevron 4"/>
          <p:cNvSpPr/>
          <p:nvPr/>
        </p:nvSpPr>
        <p:spPr>
          <a:xfrm>
            <a:off x="10972800" y="274320"/>
            <a:ext cx="548640" cy="548640"/>
          </a:xfrm>
          <a:prstGeom prst="chevron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Skill: failed-pipeline triage checklist.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Agent: incident summary agent that reviews logs, runbooks, and validation notes.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2ECC71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Plugin: orchestration or log integration for external state.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Focus on incident triage rather than promising automatic fixes.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Governance Checks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0" y="274320"/>
            <a:ext cx="548640" cy="548640"/>
          </a:xfrm>
          <a:prstGeom prst="roundRect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463040"/>
            <a:ext cx="6858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Define scope before enabling the workflow.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Keep plugin permissions narrow.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Require observable validation output.</a:t>
            </a:r>
          </a:p>
          <a:p>
            <a:pPr>
              <a:spcBef>
                <a:spcPts val="400"/>
              </a:spcBef>
              <a:spcAft>
                <a:spcPts val="800"/>
              </a:spcAft>
            </a:pPr>
            <a:r>
              <a:rPr sz="1600">
                <a:solidFill>
                  <a:srgbClr val="0078D4"/>
                </a:solidFill>
                <a:latin typeface="Segoe UI"/>
              </a:rPr>
              <a:t>●  </a:t>
            </a:r>
            <a:r>
              <a:rPr sz="1800">
                <a:solidFill>
                  <a:srgbClr val="2C3E50"/>
                </a:solidFill>
                <a:latin typeface="Segoe UI"/>
              </a:rPr>
              <a:t>Keep a human approval checkpoint for risky actions.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463040"/>
            <a:ext cx="3840480" cy="141732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1828800"/>
            <a:ext cx="34747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This slide is the control point. Do not rush through it.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Hands-On 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Time to practice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Design Exercise</a:t>
            </a:r>
          </a:p>
        </p:txBody>
      </p:sp>
      <p:sp>
        <p:nvSpPr>
          <p:cNvPr id="5" name="Process 4"/>
          <p:cNvSpPr/>
          <p:nvPr/>
        </p:nvSpPr>
        <p:spPr>
          <a:xfrm>
            <a:off x="10972800" y="274320"/>
            <a:ext cx="548640" cy="548640"/>
          </a:xfrm>
          <a:prstGeom prst="flowChartProcess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840480" cy="342900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474720" cy="2971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Ask learners to classify one workflow from their own team.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Write the workflow outcome in one sentence.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Label what belongs in a skill.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Label what belongs in an agent.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Label what requires plugin access.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Validation Check</a:t>
            </a:r>
          </a:p>
        </p:txBody>
      </p:sp>
      <p:sp>
        <p:nvSpPr>
          <p:cNvPr id="5" name="Decision 4"/>
          <p:cNvSpPr/>
          <p:nvPr/>
        </p:nvSpPr>
        <p:spPr>
          <a:xfrm>
            <a:off x="10972800" y="274320"/>
            <a:ext cx="548640" cy="548640"/>
          </a:xfrm>
          <a:prstGeom prst="flowChartDecision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840480" cy="2926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474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Learners should be able to justify the architecture, not just label the boxes.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Why is this not only a checklist?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Why is this not only a plugin?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What stays manual?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78D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828800" y="-1828800"/>
            <a:ext cx="4572000" cy="45720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144000" y="3657600"/>
            <a:ext cx="3657600" cy="3657600"/>
          </a:xfrm>
          <a:prstGeom prst="ellipse">
            <a:avLst/>
          </a:prstGeom>
          <a:solidFill>
            <a:srgbClr val="006AB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8404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D6EAF8"/>
                </a:solidFill>
                <a:latin typeface="Segoe UI"/>
              </a:rPr>
              <a:t>What did you learn?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Reflection</a:t>
            </a:r>
          </a:p>
        </p:txBody>
      </p:sp>
      <p:sp>
        <p:nvSpPr>
          <p:cNvPr id="5" name="Cloud 4"/>
          <p:cNvSpPr/>
          <p:nvPr/>
        </p:nvSpPr>
        <p:spPr>
          <a:xfrm>
            <a:off x="10972800" y="274320"/>
            <a:ext cx="548640" cy="548640"/>
          </a:xfrm>
          <a:prstGeom prst="cloud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840480" cy="2926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474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Ask where the team should deliberately avoid more automation.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What task is over-automated today?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Where would a reusable skill help immediately?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Which plugin request would need the strongest review?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286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Segoe UI"/>
              </a:rPr>
              <a:t>References</a:t>
            </a:r>
          </a:p>
        </p:txBody>
      </p:sp>
      <p:sp>
        <p:nvSpPr>
          <p:cNvPr id="5" name="Folded Corner 4"/>
          <p:cNvSpPr/>
          <p:nvPr/>
        </p:nvSpPr>
        <p:spPr>
          <a:xfrm>
            <a:off x="10972800" y="274320"/>
            <a:ext cx="548640" cy="548640"/>
          </a:xfrm>
          <a:prstGeom prst="foldedCorner">
            <a:avLst/>
          </a:prstGeom>
          <a:solidFill>
            <a:srgbClr val="5D6D7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789920" y="2286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46720" y="1463040"/>
            <a:ext cx="3840480" cy="2926080"/>
          </a:xfrm>
          <a:prstGeom prst="roundRect">
            <a:avLst/>
          </a:prstGeom>
          <a:solidFill>
            <a:srgbClr val="FDF2E9"/>
          </a:solidFill>
          <a:ln w="12700">
            <a:solidFill>
              <a:srgbClr val="E0C8A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4747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5D6D7E"/>
                </a:solidFill>
                <a:latin typeface="Segoe UI"/>
              </a:rPr>
              <a:t>PRESENTER NOTES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28800"/>
            <a:ext cx="34747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Point learners to the local comparison reference so the terminology stays consistent across later modules.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`references/skills-agents-and-plugins-differences.md`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`references/copilot-agent-beginner-best-practices.md`</a:t>
            </a:r>
          </a:p>
          <a:p>
            <a:pPr>
              <a:spcAft>
                <a:spcPts val="400"/>
              </a:spcAft>
            </a:pPr>
            <a:r>
              <a:rPr sz="1100" i="1">
                <a:solidFill>
                  <a:srgbClr val="5D6D7E"/>
                </a:solidFill>
                <a:latin typeface="Segoe UI"/>
              </a:rPr>
              <a:t>`references/awesome-copilot-agents-for-presentation-improvement.md`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446520"/>
            <a:ext cx="12191695" cy="41148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>
                <a:solidFill>
                  <a:srgbClr val="FFFFFF"/>
                </a:solidFill>
              </a:rPr>
              <a:t>Advanced Skills, Agents, And Plugins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5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114800" y="914400"/>
            <a:ext cx="3931920" cy="3931920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28800" y="2011680"/>
            <a:ext cx="8503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Segoe UI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291840"/>
            <a:ext cx="8503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BDC3C7"/>
                </a:solidFill>
                <a:latin typeface="Segoe UI"/>
              </a:rPr>
              <a:t>Advanced Skills, Agents, And Plugins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0" y="4389120"/>
            <a:ext cx="3017520" cy="4572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0" y="4754880"/>
            <a:ext cx="8503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95A5A6"/>
                </a:solidFill>
                <a:latin typeface="Segoe UI"/>
              </a:rPr>
              <a:t>AI Coding Agent Training  | 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