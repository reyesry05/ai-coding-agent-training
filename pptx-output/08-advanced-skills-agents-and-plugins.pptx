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this as the first advanced module after the beginner core. Learners should leave with a decision model, not just more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Teams often create unnecessary automation because they skip the classification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definitions simple and repeat them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learners to ask one question first: what is actually missing?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layered pattern rather than teaching the parts in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concrete reporting example instead of generic automation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example grounded in reproducibility and experiment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 on incident triage rather than promising automatic fixes.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control point. Do not rush through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learners to classify one workflow from their own team.</a:t>
            </a:r>
          </a:p>
          <a:p>
            <a:r>
              <a:t>Write the workflow outcome in one sentence.</a:t>
            </a:r>
          </a:p>
          <a:p>
            <a:r>
              <a:t>Label what belongs in a skill.</a:t>
            </a:r>
          </a:p>
          <a:p>
            <a:r>
              <a:t>Label what belongs in an agent.</a:t>
            </a:r>
          </a:p>
          <a:p>
            <a:r>
              <a:t>Label what requires plugin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Learners should be able to justify the architecture, not just label the boxes.</a:t>
            </a:r>
          </a:p>
          <a:p>
            <a:r>
              <a:t>Why is this not only a checklist?</a:t>
            </a:r>
          </a:p>
          <a:p>
            <a:r>
              <a:t>Why is this not only a plugin?</a:t>
            </a:r>
          </a:p>
          <a:p>
            <a:r>
              <a:t>What stays manual?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where the team should deliberately avoid more automation.</a:t>
            </a:r>
          </a:p>
          <a:p>
            <a:r>
              <a:t>What task is over-automated today?</a:t>
            </a:r>
          </a:p>
          <a:p>
            <a:r>
              <a:t>Where would a reusable skill help immediately?</a:t>
            </a:r>
          </a:p>
          <a:p>
            <a:r>
              <a:t>Which plugin request would need the strongest review?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learners to the local comparison reference so the terminology stays consistent across later modules.</a:t>
            </a:r>
          </a:p>
          <a:p>
            <a:r>
              <a:t>`references/skills-agents-and-plugins-differences.md`</a:t>
            </a:r>
          </a:p>
          <a:p>
            <a:r>
              <a:t>`references/github-copilot-reimagine-overview.md`</a:t>
            </a:r>
          </a:p>
          <a:p>
            <a:r>
              <a:t>`references/copilot-agent-beginner-best-practices.md`</a:t>
            </a:r>
          </a:p>
          <a:p>
            <a:r>
              <a:t>`references/awesome-copilot-agents-for-presentation-improvement.md`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34095" y="-1371600"/>
            <a:ext cx="5486400" cy="5486400"/>
          </a:xfrm>
          <a:prstGeom prst="ellipse">
            <a:avLst/>
          </a:prstGeom>
          <a:solidFill>
            <a:srgbClr val="22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0"/>
            <a:ext cx="1371600" cy="13716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"/>
              </a:rPr>
              <a:t>Advanced Skills, Agents, And Plugins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DC3C7"/>
                </a:solidFill>
                <a:latin typeface="Segoe UI"/>
              </a:rPr>
              <a:t>13 slides  |  BI, Data Science, Data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274320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5A5A6"/>
                </a:solidFill>
                <a:latin typeface="Segoe UI"/>
              </a:rPr>
              <a:t>AI Coding Agent Training  |  GitHub Copilot in VS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Module Purpose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Module 08 moves from safe beginner use into controlled advanced design.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The main goal is to choose the right building block for the job.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Introduce this as the first advanced module after the beginner core. Learners should leave with a decision model, not just more terminology.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Advanced Skills, Agents, And Plugins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Why This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 repeated checklist is not automatically an agent.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An agent is not useful if it lacks the capability access it needs.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 plugin does not provide judgment by itself.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Teams often create unnecessary automation because they skip the classification step.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Advanced Skills, Agents, And Plugins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Core Definitions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Skill: reusable guidance, method, checklist, or pattern for a type of work.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Agent: task execution workflow that can reason across steps and carry a task forward.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Plugin: external capability provider such as an extension, MCP server, or integration.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Keep the definitions simple and repeat them exactly.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Advanced Skills, Agents, And Plugins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Decision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Missing consistency: start with a skill.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Missing multi-step execution: add an agent.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Missing system access: add a plugin.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Encourage learners to ask one question first: what is actually missing?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Advanced Skills, Agents, And Plugins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How They Work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Skill sets the method.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Agent runs the workflow.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Plugin provides external access.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 notebook reproducibility skill defines the review checklist.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 review agent executes the checklist across files.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 plugin exposes experiment metadata or artifact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Show the layered pattern rather than teaching the parts in isolation.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Advanced Skills, Agents, And Plugins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BI Example</a:t>
            </a:r>
          </a:p>
        </p:txBody>
      </p:sp>
      <p:sp>
        <p:nvSpPr>
          <p:cNvPr id="5" name="Chevron 4"/>
          <p:cNvSpPr/>
          <p:nvPr/>
        </p:nvSpPr>
        <p:spPr>
          <a:xfrm>
            <a:off x="10972800" y="274320"/>
            <a:ext cx="548640" cy="548640"/>
          </a:xfrm>
          <a:prstGeom prst="chevron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Skill: monthly KPI release checklist for gross margin, net sales, and YTD revenue.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Agent: report review agent that compares README guidance, glossary terms, and release notes.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Plugin: Power BI or metadata integration that exposes model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Use a concrete reporting example instead of generic automation language.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Advanced Skills, Agents, And Plugins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DS Example</a:t>
            </a:r>
          </a:p>
        </p:txBody>
      </p:sp>
      <p:sp>
        <p:nvSpPr>
          <p:cNvPr id="5" name="Chevron 4"/>
          <p:cNvSpPr/>
          <p:nvPr/>
        </p:nvSpPr>
        <p:spPr>
          <a:xfrm>
            <a:off x="10972800" y="274320"/>
            <a:ext cx="548640" cy="548640"/>
          </a:xfrm>
          <a:prstGeom prst="chevron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Skill: notebook reproducibility standard covering seeds, package versions, and dataset snapshots.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Agent: experiment review agent that inspects notebook notes and dependency files.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Plugin: registry or experiment-tracking integration.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Keep the example grounded in reproducibility and experiment discipline.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Advanced Skills, Agents, And Plugins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DE Example</a:t>
            </a:r>
          </a:p>
        </p:txBody>
      </p:sp>
      <p:sp>
        <p:nvSpPr>
          <p:cNvPr id="5" name="Chevron 4"/>
          <p:cNvSpPr/>
          <p:nvPr/>
        </p:nvSpPr>
        <p:spPr>
          <a:xfrm>
            <a:off x="10972800" y="274320"/>
            <a:ext cx="548640" cy="548640"/>
          </a:xfrm>
          <a:prstGeom prst="chevron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Skill: failed-pipeline triage checklist.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Agent: incident summary agent that reviews logs, runbooks, and validation notes.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Plugin: orchestration or log integration for external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Focus on incident triage rather than promising automatic fixes.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Advanced Skills, Agents, And Plugins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Governance Checks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Define scope before enabling the workflow.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Keep plugin permissions narrow.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Require observable validation output.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Keep a human approval checkpoint for risky 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1417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This slide is the control point. Do not rush through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Advanced Skills, Agents, And Plugins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6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006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Segoe UI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AF8"/>
                </a:solidFill>
                <a:latin typeface="Segoe UI"/>
              </a:rPr>
              <a:t>Time to practice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Design Exercise</a:t>
            </a:r>
          </a:p>
        </p:txBody>
      </p:sp>
      <p:sp>
        <p:nvSpPr>
          <p:cNvPr id="5" name="Process 4"/>
          <p:cNvSpPr/>
          <p:nvPr/>
        </p:nvSpPr>
        <p:spPr>
          <a:xfrm>
            <a:off x="10972800" y="274320"/>
            <a:ext cx="548640" cy="548640"/>
          </a:xfrm>
          <a:prstGeom prst="flowChartProcess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840480" cy="342900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4747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Ask learners to classify one workflow from their own team.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Write the workflow outcome in one sentence.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Label what belongs in a skill.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Label what belongs in an agent.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Label what requires plugin access.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Advanced Skills, Agents, And Plugins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Validation Check</a:t>
            </a:r>
          </a:p>
        </p:txBody>
      </p:sp>
      <p:sp>
        <p:nvSpPr>
          <p:cNvPr id="5" name="Decision 4"/>
          <p:cNvSpPr/>
          <p:nvPr/>
        </p:nvSpPr>
        <p:spPr>
          <a:xfrm>
            <a:off x="10972800" y="274320"/>
            <a:ext cx="548640" cy="548640"/>
          </a:xfrm>
          <a:prstGeom prst="flowChartDecision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840480" cy="292608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474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Learners should be able to justify the architecture, not just label the boxes.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Why is this not only a checklist?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Why is this not only a plugin?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What stays manual?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Advanced Skills, Agents, And Plugins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6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006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Segoe UI"/>
              </a:rPr>
              <a:t>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AF8"/>
                </a:solidFill>
                <a:latin typeface="Segoe UI"/>
              </a:rPr>
              <a:t>What did you learn?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Reflection</a:t>
            </a:r>
          </a:p>
        </p:txBody>
      </p:sp>
      <p:sp>
        <p:nvSpPr>
          <p:cNvPr id="5" name="Cloud 4"/>
          <p:cNvSpPr/>
          <p:nvPr/>
        </p:nvSpPr>
        <p:spPr>
          <a:xfrm>
            <a:off x="10972800" y="274320"/>
            <a:ext cx="548640" cy="548640"/>
          </a:xfrm>
          <a:prstGeom prst="cloud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840480" cy="292608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474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Ask where the team should deliberately avoid more automation.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What task is over-automated today?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Where would a reusable skill help immediately?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Which plugin request would need the strongest review?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Advanced Skills, Agents, And Plugins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References</a:t>
            </a:r>
          </a:p>
        </p:txBody>
      </p:sp>
      <p:sp>
        <p:nvSpPr>
          <p:cNvPr id="5" name="Folded Corner 4"/>
          <p:cNvSpPr/>
          <p:nvPr/>
        </p:nvSpPr>
        <p:spPr>
          <a:xfrm>
            <a:off x="10972800" y="274320"/>
            <a:ext cx="548640" cy="548640"/>
          </a:xfrm>
          <a:prstGeom prst="foldedCorner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840480" cy="342900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4747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Point learners to the local comparison reference so the terminology stays consistent across later modules.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`references/skills-agents-and-plugins-differences.md`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`references/github-copilot-reimagine-overview.md`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`references/copilot-agent-beginner-best-practices.md`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`references/awesome-copilot-agents-for-presentation-improvement.md`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Advanced Skills, Agents, And Plugins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0" y="914400"/>
            <a:ext cx="3931920" cy="39319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918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DC3C7"/>
                </a:solidFill>
                <a:latin typeface="Segoe UI"/>
              </a:rPr>
              <a:t>Advanced Skills, Agents, And Plugins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389120"/>
            <a:ext cx="301752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5A5A6"/>
                </a:solidFill>
                <a:latin typeface="Segoe UI"/>
              </a:rPr>
              <a:t>AI Coding Agent Training  |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