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is about reliability. The same model can look weak or strong depending on the context supplied.</a:t>
            </a:r>
          </a:p>
          <a:p>
            <a:r>
              <a:t>Pick up from module 03 by reminding learners that safer prompts still fail if the wrong files or rules are in scope. This session sharpens context control before they touch higher-risk artifacts in module 05.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this module moves from prompt quality to context quality.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context is one of the highest-leverage improvements a learner can make.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instructions as a way to avoid repeating stable team preferences.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too much context can be as unhelpful as too little.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example tied to analytics documentation and business meaning. The goal is to show that the right file context preserves approved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value of making assumptions explicit.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workflow example that spans files so `#codebase` feels justified.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session hygiene matters. Starting fresh is often the right move.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Distinguish stable defaults from one-off task details.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simplest demo in the module and often the most persuasive.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Learners should leave with one concrete instruction idea, not just theory.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 learners to describe the improvement, not just say it felt better.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learners to connect this to their real workflow.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Encourage teams to keep instructions small and high-value, then show where those rules live in this workspace.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Oval 1"/>
          <p:cNvSpPr/>
          <p:nvPr/>
        </p:nvSpPr>
        <p:spPr>
          <a:xfrm>
            <a:off x="8534095" y="-1371600"/>
            <a:ext cx="5486400" cy="5486400"/>
          </a:xfrm>
          <a:prstGeom prst="ellipse">
            <a:avLst/>
          </a:prstGeom>
          <a:solidFill>
            <a:srgbClr val="224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029200"/>
            <a:ext cx="1371600" cy="13716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9144000" cy="1371600"/>
          </a:xfrm>
          <a:prstGeom prst="rect">
            <a:avLst/>
          </a:prstGeom>
          <a:noFill/>
        </p:spPr>
        <p:txBody>
          <a:bodyPr wrap="square">
            <a:spAutoFit/>
          </a:bodyPr>
          <a:lstStyle/>
          <a:p>
            <a:pPr algn="l"/>
            <a:r>
              <a:rPr sz="3600" b="1">
                <a:solidFill>
                  <a:srgbClr val="FFFFFF"/>
                </a:solidFill>
                <a:latin typeface="Segoe UI"/>
              </a:rPr>
              <a:t>Context And Instructions For Data Teams</a:t>
            </a:r>
          </a:p>
        </p:txBody>
      </p:sp>
      <p:sp>
        <p:nvSpPr>
          <p:cNvPr id="5" name="TextBox 4"/>
          <p:cNvSpPr txBox="1"/>
          <p:nvPr/>
        </p:nvSpPr>
        <p:spPr>
          <a:xfrm>
            <a:off x="914400" y="3474720"/>
            <a:ext cx="7315200" cy="731520"/>
          </a:xfrm>
          <a:prstGeom prst="rect">
            <a:avLst/>
          </a:prstGeom>
          <a:noFill/>
        </p:spPr>
        <p:txBody>
          <a:bodyPr wrap="square">
            <a:spAutoFit/>
          </a:bodyPr>
          <a:lstStyle/>
          <a:p>
            <a:pPr algn="l"/>
            <a:r>
              <a:rPr sz="1800" b="0">
                <a:solidFill>
                  <a:srgbClr val="BDC3C7"/>
                </a:solidFill>
                <a:latin typeface="Segoe UI"/>
              </a:rPr>
              <a:t>15 slides  |  BI, Data Science, Data Engineering</a:t>
            </a:r>
          </a:p>
        </p:txBody>
      </p:sp>
      <p:sp>
        <p:nvSpPr>
          <p:cNvPr id="6" name="Rectangle 5"/>
          <p:cNvSpPr/>
          <p:nvPr/>
        </p:nvSpPr>
        <p:spPr>
          <a:xfrm>
            <a:off x="914400" y="4572000"/>
            <a:ext cx="2743200"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0"/>
            <a:ext cx="5486400" cy="365760"/>
          </a:xfrm>
          <a:prstGeom prst="rect">
            <a:avLst/>
          </a:prstGeom>
          <a:noFill/>
        </p:spPr>
        <p:txBody>
          <a:bodyPr wrap="square">
            <a:spAutoFit/>
          </a:bodyPr>
          <a:lstStyle/>
          <a:p>
            <a:pPr algn="l"/>
            <a:r>
              <a:rPr sz="1200" b="0">
                <a:solidFill>
                  <a:srgbClr val="95A5A6"/>
                </a:solidFill>
                <a:latin typeface="Segoe UI"/>
              </a:rPr>
              <a:t>AI Coding Agent Training  |  GitHub Copilot in VS Code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Title</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1</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Context And Instructions For Data Teams</a:t>
            </a:r>
          </a:p>
          <a:p>
            <a:pPr>
              <a:spcBef>
                <a:spcPts val="400"/>
              </a:spcBef>
              <a:spcAft>
                <a:spcPts val="800"/>
              </a:spcAft>
            </a:pPr>
            <a:r>
              <a:rPr sz="1600">
                <a:solidFill>
                  <a:srgbClr val="0078D4"/>
                </a:solidFill>
                <a:latin typeface="Segoe UI"/>
              </a:rPr>
              <a:t>●  </a:t>
            </a:r>
            <a:r>
              <a:rPr sz="1800">
                <a:solidFill>
                  <a:srgbClr val="2C3E50"/>
                </a:solidFill>
                <a:latin typeface="Segoe UI"/>
              </a:rPr>
              <a:t>Better context, better Copilot output</a:t>
            </a:r>
          </a:p>
        </p:txBody>
      </p:sp>
      <p:sp>
        <p:nvSpPr>
          <p:cNvPr id="8" name="Rounded Rectangle 7"/>
          <p:cNvSpPr/>
          <p:nvPr/>
        </p:nvSpPr>
        <p:spPr>
          <a:xfrm>
            <a:off x="8046720" y="1463040"/>
            <a:ext cx="3840480" cy="192024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1463040"/>
          </a:xfrm>
          <a:prstGeom prst="rect">
            <a:avLst/>
          </a:prstGeom>
          <a:noFill/>
        </p:spPr>
        <p:txBody>
          <a:bodyPr wrap="square">
            <a:spAutoFit/>
          </a:bodyPr>
          <a:lstStyle/>
          <a:p>
            <a:pPr>
              <a:spcAft>
                <a:spcPts val="400"/>
              </a:spcAft>
            </a:pPr>
            <a:r>
              <a:rPr sz="1100" i="1">
                <a:solidFill>
                  <a:srgbClr val="5D6D7E"/>
                </a:solidFill>
                <a:latin typeface="Segoe UI"/>
              </a:rPr>
              <a:t>This module is about reliability. The same model can look weak or strong depending on the context supplied.</a:t>
            </a:r>
          </a:p>
          <a:p>
            <a:pPr>
              <a:spcAft>
                <a:spcPts val="400"/>
              </a:spcAft>
            </a:pPr>
            <a:r>
              <a:rPr sz="1100" i="1">
                <a:solidFill>
                  <a:srgbClr val="5D6D7E"/>
                </a:solidFill>
                <a:latin typeface="Segoe UI"/>
              </a:rPr>
              <a:t>Pick up from module 03 by reminding learners that safer prompts still fail if the wrong files or rules are in scope. This session sharpens context control before they touch higher-risk artifacts in module 05.</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Context And Instructions For Data Teams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Learning Objectives</a:t>
            </a:r>
          </a:p>
        </p:txBody>
      </p:sp>
      <p:sp>
        <p:nvSpPr>
          <p:cNvPr id="5" name="Pentagon 4"/>
          <p:cNvSpPr/>
          <p:nvPr/>
        </p:nvSpPr>
        <p:spPr>
          <a:xfrm>
            <a:off x="10972800" y="274320"/>
            <a:ext cx="548640" cy="548640"/>
          </a:xfrm>
          <a:prstGeom prst="homePlat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2</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Distinguish implicit and explicit context</a:t>
            </a:r>
          </a:p>
          <a:p>
            <a:pPr>
              <a:spcBef>
                <a:spcPts val="400"/>
              </a:spcBef>
              <a:spcAft>
                <a:spcPts val="800"/>
              </a:spcAft>
            </a:pPr>
            <a:r>
              <a:rPr sz="1600">
                <a:solidFill>
                  <a:srgbClr val="0078D4"/>
                </a:solidFill>
                <a:latin typeface="Segoe UI"/>
              </a:rPr>
              <a:t>●  </a:t>
            </a:r>
            <a:r>
              <a:rPr sz="1800">
                <a:solidFill>
                  <a:srgbClr val="2C3E50"/>
                </a:solidFill>
                <a:latin typeface="Segoe UI"/>
              </a:rPr>
              <a:t>Choose `#file` or `#codebase`</a:t>
            </a:r>
          </a:p>
          <a:p>
            <a:pPr>
              <a:spcBef>
                <a:spcPts val="400"/>
              </a:spcBef>
              <a:spcAft>
                <a:spcPts val="800"/>
              </a:spcAft>
            </a:pPr>
            <a:r>
              <a:rPr sz="1600">
                <a:solidFill>
                  <a:srgbClr val="0078D4"/>
                </a:solidFill>
                <a:latin typeface="Segoe UI"/>
              </a:rPr>
              <a:t>●  </a:t>
            </a:r>
            <a:r>
              <a:rPr sz="1800">
                <a:solidFill>
                  <a:srgbClr val="2C3E50"/>
                </a:solidFill>
                <a:latin typeface="Segoe UI"/>
              </a:rPr>
              <a:t>Identify recurring rules for instructions</a:t>
            </a:r>
          </a:p>
          <a:p>
            <a:pPr>
              <a:spcBef>
                <a:spcPts val="400"/>
              </a:spcBef>
              <a:spcAft>
                <a:spcPts val="800"/>
              </a:spcAft>
            </a:pPr>
            <a:r>
              <a:rPr sz="1600">
                <a:solidFill>
                  <a:srgbClr val="0078D4"/>
                </a:solidFill>
                <a:latin typeface="Segoe UI"/>
              </a:rPr>
              <a:t>●  </a:t>
            </a:r>
            <a:r>
              <a:rPr sz="1800">
                <a:solidFill>
                  <a:srgbClr val="2C3E50"/>
                </a:solidFill>
                <a:latin typeface="Segoe UI"/>
              </a:rPr>
              <a:t>Avoid context pollution in long sessions</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Explain that this module moves from prompt quality to context quality.</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Context And Instructions For Data Teams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Why Context Matters</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3</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Better context reduces generic output</a:t>
            </a:r>
          </a:p>
          <a:p>
            <a:pPr>
              <a:spcBef>
                <a:spcPts val="400"/>
              </a:spcBef>
              <a:spcAft>
                <a:spcPts val="800"/>
              </a:spcAft>
            </a:pPr>
            <a:r>
              <a:rPr sz="1600">
                <a:solidFill>
                  <a:srgbClr val="0078D4"/>
                </a:solidFill>
                <a:latin typeface="Segoe UI"/>
              </a:rPr>
              <a:t>●  </a:t>
            </a:r>
            <a:r>
              <a:rPr sz="1800">
                <a:solidFill>
                  <a:srgbClr val="2C3E50"/>
                </a:solidFill>
                <a:latin typeface="Segoe UI"/>
              </a:rPr>
              <a:t>Better context reduces hallucination risk</a:t>
            </a:r>
          </a:p>
          <a:p>
            <a:pPr>
              <a:spcBef>
                <a:spcPts val="400"/>
              </a:spcBef>
              <a:spcAft>
                <a:spcPts val="800"/>
              </a:spcAft>
            </a:pPr>
            <a:r>
              <a:rPr sz="1600">
                <a:solidFill>
                  <a:srgbClr val="0078D4"/>
                </a:solidFill>
                <a:latin typeface="Segoe UI"/>
              </a:rPr>
              <a:t>●  </a:t>
            </a:r>
            <a:r>
              <a:rPr sz="1800">
                <a:solidFill>
                  <a:srgbClr val="2C3E50"/>
                </a:solidFill>
                <a:latin typeface="Segoe UI"/>
              </a:rPr>
              <a:t>Better context makes review easier</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Stress that context is one of the highest-leverage improvements a learner can make.</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Context And Instructions For Data Teams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Sources Of Context</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4</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Active file and selection</a:t>
            </a:r>
          </a:p>
          <a:p>
            <a:pPr>
              <a:spcBef>
                <a:spcPts val="400"/>
              </a:spcBef>
              <a:spcAft>
                <a:spcPts val="800"/>
              </a:spcAft>
            </a:pPr>
            <a:r>
              <a:rPr sz="1600">
                <a:solidFill>
                  <a:srgbClr val="0078D4"/>
                </a:solidFill>
                <a:latin typeface="Segoe UI"/>
              </a:rPr>
              <a:t>●  </a:t>
            </a:r>
            <a:r>
              <a:rPr sz="1800">
                <a:solidFill>
                  <a:srgbClr val="2C3E50"/>
                </a:solidFill>
                <a:latin typeface="Segoe UI"/>
              </a:rPr>
              <a:t>`#file`</a:t>
            </a:r>
          </a:p>
          <a:p>
            <a:pPr>
              <a:spcBef>
                <a:spcPts val="400"/>
              </a:spcBef>
              <a:spcAft>
                <a:spcPts val="800"/>
              </a:spcAft>
            </a:pPr>
            <a:r>
              <a:rPr sz="1600">
                <a:solidFill>
                  <a:srgbClr val="0078D4"/>
                </a:solidFill>
                <a:latin typeface="Segoe UI"/>
              </a:rPr>
              <a:t>●  </a:t>
            </a:r>
            <a:r>
              <a:rPr sz="1800">
                <a:solidFill>
                  <a:srgbClr val="2C3E50"/>
                </a:solidFill>
                <a:latin typeface="Segoe UI"/>
              </a:rPr>
              <a:t>`#codebase`</a:t>
            </a:r>
          </a:p>
          <a:p>
            <a:pPr>
              <a:spcBef>
                <a:spcPts val="400"/>
              </a:spcBef>
              <a:spcAft>
                <a:spcPts val="800"/>
              </a:spcAft>
            </a:pPr>
            <a:r>
              <a:rPr sz="1600">
                <a:solidFill>
                  <a:srgbClr val="0078D4"/>
                </a:solidFill>
                <a:latin typeface="Segoe UI"/>
              </a:rPr>
              <a:t>●  </a:t>
            </a:r>
            <a:r>
              <a:rPr sz="1800">
                <a:solidFill>
                  <a:srgbClr val="2C3E50"/>
                </a:solidFill>
                <a:latin typeface="Segoe UI"/>
              </a:rPr>
              <a:t>`#fetch`</a:t>
            </a:r>
          </a:p>
          <a:p>
            <a:pPr>
              <a:spcBef>
                <a:spcPts val="400"/>
              </a:spcBef>
              <a:spcAft>
                <a:spcPts val="800"/>
              </a:spcAft>
            </a:pPr>
            <a:r>
              <a:rPr sz="1600">
                <a:solidFill>
                  <a:srgbClr val="0078D4"/>
                </a:solidFill>
                <a:latin typeface="Segoe UI"/>
              </a:rPr>
              <a:t>●  </a:t>
            </a:r>
            <a:r>
              <a:rPr sz="1800">
                <a:solidFill>
                  <a:srgbClr val="2C3E50"/>
                </a:solidFill>
                <a:latin typeface="Segoe UI"/>
              </a:rPr>
              <a:t>Reusable instructions</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Introduce instructions as a way to avoid repeating stable team preferences.</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Context And Instructions For Data Teams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Use The Narrowest Useful Context</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5</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Single file question: `#file`</a:t>
            </a:r>
          </a:p>
          <a:p>
            <a:pPr>
              <a:spcBef>
                <a:spcPts val="400"/>
              </a:spcBef>
              <a:spcAft>
                <a:spcPts val="800"/>
              </a:spcAft>
            </a:pPr>
            <a:r>
              <a:rPr sz="1600">
                <a:solidFill>
                  <a:srgbClr val="0078D4"/>
                </a:solidFill>
                <a:latin typeface="Segoe UI"/>
              </a:rPr>
              <a:t>●  </a:t>
            </a:r>
            <a:r>
              <a:rPr sz="1800">
                <a:solidFill>
                  <a:srgbClr val="2C3E50"/>
                </a:solidFill>
                <a:latin typeface="Segoe UI"/>
              </a:rPr>
              <a:t>Multi-file discovery: `#codebase`</a:t>
            </a:r>
          </a:p>
          <a:p>
            <a:pPr>
              <a:spcBef>
                <a:spcPts val="400"/>
              </a:spcBef>
              <a:spcAft>
                <a:spcPts val="800"/>
              </a:spcAft>
            </a:pPr>
            <a:r>
              <a:rPr sz="1600">
                <a:solidFill>
                  <a:srgbClr val="0078D4"/>
                </a:solidFill>
                <a:latin typeface="Segoe UI"/>
              </a:rPr>
              <a:t>●  </a:t>
            </a:r>
            <a:r>
              <a:rPr sz="1800">
                <a:solidFill>
                  <a:srgbClr val="2C3E50"/>
                </a:solidFill>
                <a:latin typeface="Segoe UI"/>
              </a:rPr>
              <a:t>Current docs: `#fetch`</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Point out that too much context can be as unhelpful as too little.</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Context And Instructions For Data Teams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BI Example</a:t>
            </a:r>
          </a:p>
        </p:txBody>
      </p:sp>
      <p:sp>
        <p:nvSpPr>
          <p:cNvPr id="5" name="Chevron 4"/>
          <p:cNvSpPr/>
          <p:nvPr/>
        </p:nvSpPr>
        <p:spPr>
          <a:xfrm>
            <a:off x="10972800" y="274320"/>
            <a:ext cx="548640" cy="548640"/>
          </a:xfrm>
          <a:prstGeom prst="chevron">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6</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2ECC71"/>
                </a:solidFill>
                <a:latin typeface="Segoe UI"/>
              </a:rPr>
              <a:t>●  </a:t>
            </a:r>
            <a:r>
              <a:rPr sz="1800">
                <a:solidFill>
                  <a:srgbClr val="2C3E50"/>
                </a:solidFill>
                <a:latin typeface="Segoe UI"/>
              </a:rPr>
              <a:t>Attach a KPI glossary or semantic model note</a:t>
            </a:r>
          </a:p>
          <a:p>
            <a:pPr>
              <a:spcBef>
                <a:spcPts val="400"/>
              </a:spcBef>
              <a:spcAft>
                <a:spcPts val="800"/>
              </a:spcAft>
            </a:pPr>
            <a:r>
              <a:rPr sz="1600">
                <a:solidFill>
                  <a:srgbClr val="2ECC71"/>
                </a:solidFill>
                <a:latin typeface="Segoe UI"/>
              </a:rPr>
              <a:t>●  </a:t>
            </a:r>
            <a:r>
              <a:rPr sz="1800">
                <a:solidFill>
                  <a:srgbClr val="2C3E50"/>
                </a:solidFill>
                <a:latin typeface="Segoe UI"/>
              </a:rPr>
              <a:t>Ask for a business-language explanation of gross margin logic</a:t>
            </a:r>
          </a:p>
          <a:p>
            <a:pPr>
              <a:spcBef>
                <a:spcPts val="400"/>
              </a:spcBef>
              <a:spcAft>
                <a:spcPts val="800"/>
              </a:spcAft>
            </a:pPr>
            <a:r>
              <a:rPr sz="1600">
                <a:solidFill>
                  <a:srgbClr val="2ECC71"/>
                </a:solidFill>
                <a:latin typeface="Segoe UI"/>
              </a:rPr>
              <a:t>●  </a:t>
            </a:r>
            <a:r>
              <a:rPr sz="1800">
                <a:solidFill>
                  <a:srgbClr val="2C3E50"/>
                </a:solidFill>
                <a:latin typeface="Segoe UI"/>
              </a:rPr>
              <a:t>Ask where validation guidance for monthly revenue should live</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Keep the example tied to analytics documentation and business meaning. The goal is to show that the right file context preserves approved definitions.</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Context And Instructions For Data Teams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DS Example</a:t>
            </a:r>
          </a:p>
        </p:txBody>
      </p:sp>
      <p:sp>
        <p:nvSpPr>
          <p:cNvPr id="5" name="Chevron 4"/>
          <p:cNvSpPr/>
          <p:nvPr/>
        </p:nvSpPr>
        <p:spPr>
          <a:xfrm>
            <a:off x="10972800" y="274320"/>
            <a:ext cx="548640" cy="548640"/>
          </a:xfrm>
          <a:prstGeom prst="chevron">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7</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2ECC71"/>
                </a:solidFill>
                <a:latin typeface="Segoe UI"/>
              </a:rPr>
              <a:t>●  </a:t>
            </a:r>
            <a:r>
              <a:rPr sz="1800">
                <a:solidFill>
                  <a:srgbClr val="2C3E50"/>
                </a:solidFill>
                <a:latin typeface="Segoe UI"/>
              </a:rPr>
              <a:t>Attach a notebook header or experiment README</a:t>
            </a:r>
          </a:p>
          <a:p>
            <a:pPr>
              <a:spcBef>
                <a:spcPts val="400"/>
              </a:spcBef>
              <a:spcAft>
                <a:spcPts val="800"/>
              </a:spcAft>
            </a:pPr>
            <a:r>
              <a:rPr sz="1600">
                <a:solidFill>
                  <a:srgbClr val="2ECC71"/>
                </a:solidFill>
                <a:latin typeface="Segoe UI"/>
              </a:rPr>
              <a:t>●  </a:t>
            </a:r>
            <a:r>
              <a:rPr sz="1800">
                <a:solidFill>
                  <a:srgbClr val="2C3E50"/>
                </a:solidFill>
                <a:latin typeface="Segoe UI"/>
              </a:rPr>
              <a:t>Ask for environment, package, data snapshot, and random-seed gaps</a:t>
            </a:r>
          </a:p>
          <a:p>
            <a:pPr>
              <a:spcBef>
                <a:spcPts val="400"/>
              </a:spcBef>
              <a:spcAft>
                <a:spcPts val="800"/>
              </a:spcAft>
            </a:pPr>
            <a:r>
              <a:rPr sz="1600">
                <a:solidFill>
                  <a:srgbClr val="2ECC71"/>
                </a:solidFill>
                <a:latin typeface="Segoe UI"/>
              </a:rPr>
              <a:t>●  </a:t>
            </a:r>
            <a:r>
              <a:rPr sz="1800">
                <a:solidFill>
                  <a:srgbClr val="2C3E50"/>
                </a:solidFill>
                <a:latin typeface="Segoe UI"/>
              </a:rPr>
              <a:t>Identify repeated experiment guidance worth turning into instructions</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Emphasize the value of making assumptions explicit.</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Context And Instructions For Data Teams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DE Example</a:t>
            </a:r>
          </a:p>
        </p:txBody>
      </p:sp>
      <p:sp>
        <p:nvSpPr>
          <p:cNvPr id="5" name="Chevron 4"/>
          <p:cNvSpPr/>
          <p:nvPr/>
        </p:nvSpPr>
        <p:spPr>
          <a:xfrm>
            <a:off x="10972800" y="274320"/>
            <a:ext cx="548640" cy="548640"/>
          </a:xfrm>
          <a:prstGeom prst="chevron">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8</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2ECC71"/>
                </a:solidFill>
                <a:latin typeface="Segoe UI"/>
              </a:rPr>
              <a:t>●  </a:t>
            </a:r>
            <a:r>
              <a:rPr sz="1800">
                <a:solidFill>
                  <a:srgbClr val="2C3E50"/>
                </a:solidFill>
                <a:latin typeface="Segoe UI"/>
              </a:rPr>
              <a:t>Use `#codebase` to find validation or troubleshooting points in an ingestion workflow</a:t>
            </a:r>
          </a:p>
          <a:p>
            <a:pPr>
              <a:spcBef>
                <a:spcPts val="400"/>
              </a:spcBef>
              <a:spcAft>
                <a:spcPts val="800"/>
              </a:spcAft>
            </a:pPr>
            <a:r>
              <a:rPr sz="1600">
                <a:solidFill>
                  <a:srgbClr val="2ECC71"/>
                </a:solidFill>
                <a:latin typeface="Segoe UI"/>
              </a:rPr>
              <a:t>●  </a:t>
            </a:r>
            <a:r>
              <a:rPr sz="1800">
                <a:solidFill>
                  <a:srgbClr val="2C3E50"/>
                </a:solidFill>
                <a:latin typeface="Segoe UI"/>
              </a:rPr>
              <a:t>Identify repeatable rules for backfill runs and upstream table checks</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Use a workflow example that spans files so `#codebase` feels justified.</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Context And Instructions For Data Teams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When Context Becomes Noise</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9</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unrelated chat topics</a:t>
            </a:r>
          </a:p>
          <a:p>
            <a:pPr>
              <a:spcBef>
                <a:spcPts val="400"/>
              </a:spcBef>
              <a:spcAft>
                <a:spcPts val="800"/>
              </a:spcAft>
            </a:pPr>
            <a:r>
              <a:rPr sz="1600">
                <a:solidFill>
                  <a:srgbClr val="0078D4"/>
                </a:solidFill>
                <a:latin typeface="Segoe UI"/>
              </a:rPr>
              <a:t>●  </a:t>
            </a:r>
            <a:r>
              <a:rPr sz="1800">
                <a:solidFill>
                  <a:srgbClr val="2C3E50"/>
                </a:solidFill>
                <a:latin typeface="Segoe UI"/>
              </a:rPr>
              <a:t>too many attached files</a:t>
            </a:r>
          </a:p>
          <a:p>
            <a:pPr>
              <a:spcBef>
                <a:spcPts val="400"/>
              </a:spcBef>
              <a:spcAft>
                <a:spcPts val="800"/>
              </a:spcAft>
            </a:pPr>
            <a:r>
              <a:rPr sz="1600">
                <a:solidFill>
                  <a:srgbClr val="0078D4"/>
                </a:solidFill>
                <a:latin typeface="Segoe UI"/>
              </a:rPr>
              <a:t>●  </a:t>
            </a:r>
            <a:r>
              <a:rPr sz="1800">
                <a:solidFill>
                  <a:srgbClr val="2C3E50"/>
                </a:solidFill>
                <a:latin typeface="Segoe UI"/>
              </a:rPr>
              <a:t>stale task history</a:t>
            </a:r>
          </a:p>
          <a:p>
            <a:pPr>
              <a:spcBef>
                <a:spcPts val="400"/>
              </a:spcBef>
              <a:spcAft>
                <a:spcPts val="800"/>
              </a:spcAft>
            </a:pPr>
            <a:r>
              <a:rPr sz="1600">
                <a:solidFill>
                  <a:srgbClr val="0078D4"/>
                </a:solidFill>
                <a:latin typeface="Segoe UI"/>
              </a:rPr>
              <a:t>●  </a:t>
            </a:r>
            <a:r>
              <a:rPr sz="1800">
                <a:solidFill>
                  <a:srgbClr val="2C3E50"/>
                </a:solidFill>
                <a:latin typeface="Segoe UI"/>
              </a:rPr>
              <a:t>generic results from overloaded context</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This is where session hygiene matters. Starting fresh is often the right move.</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Context And Instructions For Data Teams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What Belongs In Instructions</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10</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recurring team rules</a:t>
            </a:r>
          </a:p>
          <a:p>
            <a:pPr>
              <a:spcBef>
                <a:spcPts val="400"/>
              </a:spcBef>
              <a:spcAft>
                <a:spcPts val="800"/>
              </a:spcAft>
            </a:pPr>
            <a:r>
              <a:rPr sz="1600">
                <a:solidFill>
                  <a:srgbClr val="0078D4"/>
                </a:solidFill>
                <a:latin typeface="Segoe UI"/>
              </a:rPr>
              <a:t>●  </a:t>
            </a:r>
            <a:r>
              <a:rPr sz="1800">
                <a:solidFill>
                  <a:srgbClr val="2C3E50"/>
                </a:solidFill>
                <a:latin typeface="Segoe UI"/>
              </a:rPr>
              <a:t>environment assumptions</a:t>
            </a:r>
          </a:p>
          <a:p>
            <a:pPr>
              <a:spcBef>
                <a:spcPts val="400"/>
              </a:spcBef>
              <a:spcAft>
                <a:spcPts val="800"/>
              </a:spcAft>
            </a:pPr>
            <a:r>
              <a:rPr sz="1600">
                <a:solidFill>
                  <a:srgbClr val="0078D4"/>
                </a:solidFill>
                <a:latin typeface="Segoe UI"/>
              </a:rPr>
              <a:t>●  </a:t>
            </a:r>
            <a:r>
              <a:rPr sz="1800">
                <a:solidFill>
                  <a:srgbClr val="2C3E50"/>
                </a:solidFill>
                <a:latin typeface="Segoe UI"/>
              </a:rPr>
              <a:t>output standards</a:t>
            </a:r>
          </a:p>
          <a:p>
            <a:pPr>
              <a:spcBef>
                <a:spcPts val="400"/>
              </a:spcBef>
              <a:spcAft>
                <a:spcPts val="800"/>
              </a:spcAft>
            </a:pPr>
            <a:r>
              <a:rPr sz="1600">
                <a:solidFill>
                  <a:srgbClr val="0078D4"/>
                </a:solidFill>
                <a:latin typeface="Segoe UI"/>
              </a:rPr>
              <a:t>●  </a:t>
            </a:r>
            <a:r>
              <a:rPr sz="1800">
                <a:solidFill>
                  <a:srgbClr val="2C3E50"/>
                </a:solidFill>
                <a:latin typeface="Segoe UI"/>
              </a:rPr>
              <a:t>validation requirements</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Distinguish stable defaults from one-off task details.</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Context And Instructions For Data Teams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Context Comparison Demo</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11</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Ask once without explicit context</a:t>
            </a:r>
          </a:p>
          <a:p>
            <a:pPr>
              <a:spcBef>
                <a:spcPts val="400"/>
              </a:spcBef>
              <a:spcAft>
                <a:spcPts val="800"/>
              </a:spcAft>
            </a:pPr>
            <a:r>
              <a:rPr sz="1600">
                <a:solidFill>
                  <a:srgbClr val="0078D4"/>
                </a:solidFill>
                <a:latin typeface="Segoe UI"/>
              </a:rPr>
              <a:t>●  </a:t>
            </a:r>
            <a:r>
              <a:rPr sz="1800">
                <a:solidFill>
                  <a:srgbClr val="2C3E50"/>
                </a:solidFill>
                <a:latin typeface="Segoe UI"/>
              </a:rPr>
              <a:t>Ask again with `#file` or `#codebase`</a:t>
            </a:r>
          </a:p>
          <a:p>
            <a:pPr>
              <a:spcBef>
                <a:spcPts val="400"/>
              </a:spcBef>
              <a:spcAft>
                <a:spcPts val="800"/>
              </a:spcAft>
            </a:pPr>
            <a:r>
              <a:rPr sz="1600">
                <a:solidFill>
                  <a:srgbClr val="0078D4"/>
                </a:solidFill>
                <a:latin typeface="Segoe UI"/>
              </a:rPr>
              <a:t>●  </a:t>
            </a:r>
            <a:r>
              <a:rPr sz="1800">
                <a:solidFill>
                  <a:srgbClr val="2C3E50"/>
                </a:solidFill>
                <a:latin typeface="Segoe UI"/>
              </a:rPr>
              <a:t>compare relevance and specificity</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This is the simplest demo in the module and often the most persuasive.</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Context And Instructions For Data Teams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78D4"/>
        </a:solidFill>
        <a:effectLst/>
      </p:bgPr>
    </p:bg>
    <p:spTree>
      <p:nvGrpSpPr>
        <p:cNvPr id="1" name=""/>
        <p:cNvGrpSpPr/>
        <p:nvPr/>
      </p:nvGrpSpPr>
      <p:grpSpPr/>
      <p:sp>
        <p:nvSpPr>
          <p:cNvPr id="2" name="Oval 1"/>
          <p:cNvSpPr/>
          <p:nvPr/>
        </p:nvSpPr>
        <p:spPr>
          <a:xfrm>
            <a:off x="-1828800" y="-1828800"/>
            <a:ext cx="4572000" cy="4572000"/>
          </a:xfrm>
          <a:prstGeom prst="ellipse">
            <a:avLst/>
          </a:prstGeom>
          <a:solidFill>
            <a:srgbClr val="006A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0" y="3657600"/>
            <a:ext cx="3657600" cy="3657600"/>
          </a:xfrm>
          <a:prstGeom prst="ellipse">
            <a:avLst/>
          </a:prstGeom>
          <a:solidFill>
            <a:srgbClr val="006A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286000"/>
            <a:ext cx="8229600" cy="1371600"/>
          </a:xfrm>
          <a:prstGeom prst="rect">
            <a:avLst/>
          </a:prstGeom>
          <a:noFill/>
        </p:spPr>
        <p:txBody>
          <a:bodyPr wrap="square">
            <a:spAutoFit/>
          </a:bodyPr>
          <a:lstStyle/>
          <a:p>
            <a:pPr algn="ctr"/>
            <a:r>
              <a:rPr sz="3600" b="1">
                <a:solidFill>
                  <a:srgbClr val="FFFFFF"/>
                </a:solidFill>
                <a:latin typeface="Segoe UI"/>
              </a:rPr>
              <a:t>Hands-On Lab</a:t>
            </a:r>
          </a:p>
        </p:txBody>
      </p:sp>
      <p:sp>
        <p:nvSpPr>
          <p:cNvPr id="5" name="TextBox 4"/>
          <p:cNvSpPr txBox="1"/>
          <p:nvPr/>
        </p:nvSpPr>
        <p:spPr>
          <a:xfrm>
            <a:off x="1828800" y="3840480"/>
            <a:ext cx="8229600" cy="731520"/>
          </a:xfrm>
          <a:prstGeom prst="rect">
            <a:avLst/>
          </a:prstGeom>
          <a:noFill/>
        </p:spPr>
        <p:txBody>
          <a:bodyPr wrap="square">
            <a:spAutoFit/>
          </a:bodyPr>
          <a:lstStyle/>
          <a:p>
            <a:pPr algn="ctr"/>
            <a:r>
              <a:rPr sz="1800" b="0">
                <a:solidFill>
                  <a:srgbClr val="D6EAF8"/>
                </a:solidFill>
                <a:latin typeface="Segoe UI"/>
              </a:rPr>
              <a:t>Time to practice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Context Comparison Exercise</a:t>
            </a:r>
          </a:p>
        </p:txBody>
      </p:sp>
      <p:sp>
        <p:nvSpPr>
          <p:cNvPr id="5" name="Process 4"/>
          <p:cNvSpPr/>
          <p:nvPr/>
        </p:nvSpPr>
        <p:spPr>
          <a:xfrm>
            <a:off x="10972800" y="274320"/>
            <a:ext cx="548640" cy="548640"/>
          </a:xfrm>
          <a:prstGeom prst="flowChartProcess">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12</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2ECC71"/>
                </a:solidFill>
                <a:latin typeface="Segoe UI"/>
              </a:rPr>
              <a:t>●  </a:t>
            </a:r>
            <a:r>
              <a:rPr sz="1800">
                <a:solidFill>
                  <a:srgbClr val="2C3E50"/>
                </a:solidFill>
                <a:latin typeface="Segoe UI"/>
              </a:rPr>
              <a:t>create before-and-after context comparison</a:t>
            </a:r>
          </a:p>
          <a:p>
            <a:pPr>
              <a:spcBef>
                <a:spcPts val="400"/>
              </a:spcBef>
              <a:spcAft>
                <a:spcPts val="800"/>
              </a:spcAft>
            </a:pPr>
            <a:r>
              <a:rPr sz="1600">
                <a:solidFill>
                  <a:srgbClr val="2ECC71"/>
                </a:solidFill>
                <a:latin typeface="Segoe UI"/>
              </a:rPr>
              <a:t>●  </a:t>
            </a:r>
            <a:r>
              <a:rPr sz="1800">
                <a:solidFill>
                  <a:srgbClr val="2C3E50"/>
                </a:solidFill>
                <a:latin typeface="Segoe UI"/>
              </a:rPr>
              <a:t>identify one instruction candidate</a:t>
            </a:r>
          </a:p>
          <a:p>
            <a:pPr>
              <a:spcBef>
                <a:spcPts val="400"/>
              </a:spcBef>
              <a:spcAft>
                <a:spcPts val="800"/>
              </a:spcAft>
            </a:pPr>
            <a:r>
              <a:rPr sz="1600">
                <a:solidFill>
                  <a:srgbClr val="2ECC71"/>
                </a:solidFill>
                <a:latin typeface="Segoe UI"/>
              </a:rPr>
              <a:t>●  </a:t>
            </a:r>
            <a:r>
              <a:rPr sz="1800">
                <a:solidFill>
                  <a:srgbClr val="2C3E50"/>
                </a:solidFill>
                <a:latin typeface="Segoe UI"/>
              </a:rPr>
              <a:t>decide whether to start a fresh chat</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Learners should leave with one concrete instruction idea, not just theory.</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Context And Instructions For Data Teams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Readiness Check</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13</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learner can improve output with context</a:t>
            </a:r>
          </a:p>
          <a:p>
            <a:pPr>
              <a:spcBef>
                <a:spcPts val="400"/>
              </a:spcBef>
              <a:spcAft>
                <a:spcPts val="800"/>
              </a:spcAft>
            </a:pPr>
            <a:r>
              <a:rPr sz="1600">
                <a:solidFill>
                  <a:srgbClr val="0078D4"/>
                </a:solidFill>
                <a:latin typeface="Segoe UI"/>
              </a:rPr>
              <a:t>●  </a:t>
            </a:r>
            <a:r>
              <a:rPr sz="1800">
                <a:solidFill>
                  <a:srgbClr val="2C3E50"/>
                </a:solidFill>
                <a:latin typeface="Segoe UI"/>
              </a:rPr>
              <a:t>learner can name one instruction candidate</a:t>
            </a:r>
          </a:p>
          <a:p>
            <a:pPr>
              <a:spcBef>
                <a:spcPts val="400"/>
              </a:spcBef>
              <a:spcAft>
                <a:spcPts val="800"/>
              </a:spcAft>
            </a:pPr>
            <a:r>
              <a:rPr sz="1600">
                <a:solidFill>
                  <a:srgbClr val="0078D4"/>
                </a:solidFill>
                <a:latin typeface="Segoe UI"/>
              </a:rPr>
              <a:t>●  </a:t>
            </a:r>
            <a:r>
              <a:rPr sz="1800">
                <a:solidFill>
                  <a:srgbClr val="2C3E50"/>
                </a:solidFill>
                <a:latin typeface="Segoe UI"/>
              </a:rPr>
              <a:t>learner can explain session hygiene</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Require learners to describe the improvement, not just say it felt better.</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Context And Instructions For Data Teams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Instruction Debrief</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14</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What context helped most?</a:t>
            </a:r>
          </a:p>
          <a:p>
            <a:pPr>
              <a:spcBef>
                <a:spcPts val="400"/>
              </a:spcBef>
              <a:spcAft>
                <a:spcPts val="800"/>
              </a:spcAft>
            </a:pPr>
            <a:r>
              <a:rPr sz="1600">
                <a:solidFill>
                  <a:srgbClr val="0078D4"/>
                </a:solidFill>
                <a:latin typeface="Segoe UI"/>
              </a:rPr>
              <a:t>●  </a:t>
            </a:r>
            <a:r>
              <a:rPr sz="1800">
                <a:solidFill>
                  <a:srgbClr val="2C3E50"/>
                </a:solidFill>
                <a:latin typeface="Segoe UI"/>
              </a:rPr>
              <a:t>What team rule should become permanent?</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Push learners to connect this to their real workflow.</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Context And Instructions For Data Teams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References</a:t>
            </a:r>
          </a:p>
        </p:txBody>
      </p:sp>
      <p:sp>
        <p:nvSpPr>
          <p:cNvPr id="5" name="Folded Corner 4"/>
          <p:cNvSpPr/>
          <p:nvPr/>
        </p:nvSpPr>
        <p:spPr>
          <a:xfrm>
            <a:off x="10972800" y="274320"/>
            <a:ext cx="548640" cy="548640"/>
          </a:xfrm>
          <a:prstGeom prst="foldedCorner">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15</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5D6D7E"/>
                </a:solidFill>
                <a:latin typeface="Segoe UI"/>
              </a:rPr>
              <a:t>●  </a:t>
            </a:r>
            <a:r>
              <a:rPr sz="1800">
                <a:solidFill>
                  <a:srgbClr val="2C3E50"/>
                </a:solidFill>
                <a:latin typeface="Segoe UI"/>
              </a:rPr>
              <a:t>VS Code chat context docs</a:t>
            </a:r>
          </a:p>
          <a:p>
            <a:pPr>
              <a:spcBef>
                <a:spcPts val="400"/>
              </a:spcBef>
              <a:spcAft>
                <a:spcPts val="800"/>
              </a:spcAft>
            </a:pPr>
            <a:r>
              <a:rPr sz="1600">
                <a:solidFill>
                  <a:srgbClr val="5D6D7E"/>
                </a:solidFill>
                <a:latin typeface="Segoe UI"/>
              </a:rPr>
              <a:t>●  </a:t>
            </a:r>
            <a:r>
              <a:rPr sz="1800">
                <a:solidFill>
                  <a:srgbClr val="2C3E50"/>
                </a:solidFill>
                <a:latin typeface="Segoe UI"/>
              </a:rPr>
              <a:t>VS Code custom instructions docs</a:t>
            </a:r>
          </a:p>
          <a:p>
            <a:pPr>
              <a:spcBef>
                <a:spcPts val="400"/>
              </a:spcBef>
              <a:spcAft>
                <a:spcPts val="800"/>
              </a:spcAft>
            </a:pPr>
            <a:r>
              <a:rPr sz="1600">
                <a:solidFill>
                  <a:srgbClr val="5D6D7E"/>
                </a:solidFill>
                <a:latin typeface="Segoe UI"/>
              </a:rPr>
              <a:t>●  </a:t>
            </a:r>
            <a:r>
              <a:rPr sz="1800">
                <a:solidFill>
                  <a:srgbClr val="2C3E50"/>
                </a:solidFill>
                <a:latin typeface="Segoe UI"/>
              </a:rPr>
              <a:t>VS Code AI best practices</a:t>
            </a:r>
          </a:p>
          <a:p>
            <a:pPr>
              <a:spcBef>
                <a:spcPts val="400"/>
              </a:spcBef>
              <a:spcAft>
                <a:spcPts val="800"/>
              </a:spcAft>
            </a:pPr>
            <a:r>
              <a:rPr sz="1600">
                <a:solidFill>
                  <a:srgbClr val="5D6D7E"/>
                </a:solidFill>
                <a:latin typeface="Segoe UI"/>
              </a:rPr>
              <a:t>●  </a:t>
            </a:r>
            <a:r>
              <a:rPr sz="1800">
                <a:solidFill>
                  <a:srgbClr val="2C3E50"/>
                </a:solidFill>
                <a:latin typeface="Segoe UI"/>
              </a:rPr>
              <a:t>Workspace instructions: .github/copilot-instructions.md</a:t>
            </a:r>
          </a:p>
          <a:p>
            <a:pPr>
              <a:spcBef>
                <a:spcPts val="400"/>
              </a:spcBef>
              <a:spcAft>
                <a:spcPts val="800"/>
              </a:spcAft>
            </a:pPr>
            <a:r>
              <a:rPr sz="1600">
                <a:solidFill>
                  <a:srgbClr val="5D6D7E"/>
                </a:solidFill>
                <a:latin typeface="Segoe UI"/>
              </a:rPr>
              <a:t>●  </a:t>
            </a:r>
            <a:r>
              <a:rPr sz="1800">
                <a:solidFill>
                  <a:srgbClr val="2C3E50"/>
                </a:solidFill>
                <a:latin typeface="Segoe UI"/>
              </a:rPr>
              <a:t>Workspace reference: references/copilot-agent-beginner-best-practices.md</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Encourage teams to keep instructions small and high-value, then show where those rules live in this workspace.</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Context And Instructions For Data Teams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Oval 1"/>
          <p:cNvSpPr/>
          <p:nvPr/>
        </p:nvSpPr>
        <p:spPr>
          <a:xfrm>
            <a:off x="4114800" y="914400"/>
            <a:ext cx="3931920" cy="393192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011680"/>
            <a:ext cx="8503920" cy="1097280"/>
          </a:xfrm>
          <a:prstGeom prst="rect">
            <a:avLst/>
          </a:prstGeom>
          <a:noFill/>
        </p:spPr>
        <p:txBody>
          <a:bodyPr wrap="square">
            <a:spAutoFit/>
          </a:bodyPr>
          <a:lstStyle/>
          <a:p>
            <a:pPr algn="ctr"/>
            <a:r>
              <a:rPr sz="4400" b="1">
                <a:solidFill>
                  <a:srgbClr val="FFFFFF"/>
                </a:solidFill>
                <a:latin typeface="Segoe UI"/>
              </a:rPr>
              <a:t>Thank You</a:t>
            </a:r>
          </a:p>
        </p:txBody>
      </p:sp>
      <p:sp>
        <p:nvSpPr>
          <p:cNvPr id="4" name="TextBox 3"/>
          <p:cNvSpPr txBox="1"/>
          <p:nvPr/>
        </p:nvSpPr>
        <p:spPr>
          <a:xfrm>
            <a:off x="1828800" y="3291840"/>
            <a:ext cx="8503920" cy="731520"/>
          </a:xfrm>
          <a:prstGeom prst="rect">
            <a:avLst/>
          </a:prstGeom>
          <a:noFill/>
        </p:spPr>
        <p:txBody>
          <a:bodyPr wrap="square">
            <a:spAutoFit/>
          </a:bodyPr>
          <a:lstStyle/>
          <a:p>
            <a:pPr algn="ctr"/>
            <a:r>
              <a:rPr sz="1800" b="0">
                <a:solidFill>
                  <a:srgbClr val="BDC3C7"/>
                </a:solidFill>
                <a:latin typeface="Segoe UI"/>
              </a:rPr>
              <a:t>Context And Instructions For Data Teams</a:t>
            </a:r>
          </a:p>
        </p:txBody>
      </p:sp>
      <p:sp>
        <p:nvSpPr>
          <p:cNvPr id="5" name="Rectangle 4"/>
          <p:cNvSpPr/>
          <p:nvPr/>
        </p:nvSpPr>
        <p:spPr>
          <a:xfrm>
            <a:off x="4572000" y="4389120"/>
            <a:ext cx="3017520" cy="457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754880"/>
            <a:ext cx="8503920" cy="457200"/>
          </a:xfrm>
          <a:prstGeom prst="rect">
            <a:avLst/>
          </a:prstGeom>
          <a:noFill/>
        </p:spPr>
        <p:txBody>
          <a:bodyPr wrap="square">
            <a:spAutoFit/>
          </a:bodyPr>
          <a:lstStyle/>
          <a:p>
            <a:pPr algn="ctr"/>
            <a:r>
              <a:rPr sz="1400" b="0">
                <a:solidFill>
                  <a:srgbClr val="95A5A6"/>
                </a:solidFill>
                <a:latin typeface="Segoe UI"/>
              </a:rPr>
              <a:t>AI Coding Agent Training  |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